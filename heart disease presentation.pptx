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handoutMasterIdLst>
    <p:handoutMasterId r:id="rId19"/>
  </p:handoutMasterIdLst>
  <p:sldIdLst>
    <p:sldId id="281" r:id="rId5"/>
    <p:sldId id="284" r:id="rId6"/>
    <p:sldId id="280" r:id="rId7"/>
    <p:sldId id="278" r:id="rId8"/>
    <p:sldId id="261" r:id="rId9"/>
    <p:sldId id="273" r:id="rId10"/>
    <p:sldId id="279" r:id="rId11"/>
    <p:sldId id="265" r:id="rId12"/>
    <p:sldId id="277" r:id="rId13"/>
    <p:sldId id="268" r:id="rId14"/>
    <p:sldId id="266" r:id="rId15"/>
    <p:sldId id="292" r:id="rId16"/>
    <p:sldId id="28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85" autoAdjust="0"/>
    <p:restoredTop sz="94879" autoAdjust="0"/>
  </p:normalViewPr>
  <p:slideViewPr>
    <p:cSldViewPr snapToGrid="0">
      <p:cViewPr varScale="1">
        <p:scale>
          <a:sx n="78" d="100"/>
          <a:sy n="78" d="100"/>
        </p:scale>
        <p:origin x="782" y="67"/>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7/9/2025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7/9/2025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2295017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854501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3155431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1015613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9</a:t>
            </a:fld>
            <a:endParaRPr lang="en-US"/>
          </a:p>
        </p:txBody>
      </p:sp>
    </p:spTree>
    <p:extLst>
      <p:ext uri="{BB962C8B-B14F-4D97-AF65-F5344CB8AC3E}">
        <p14:creationId xmlns:p14="http://schemas.microsoft.com/office/powerpoint/2010/main" val="17186319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10</a:t>
            </a:fld>
            <a:endParaRPr lang="en-US"/>
          </a:p>
        </p:txBody>
      </p:sp>
    </p:spTree>
    <p:extLst>
      <p:ext uri="{BB962C8B-B14F-4D97-AF65-F5344CB8AC3E}">
        <p14:creationId xmlns:p14="http://schemas.microsoft.com/office/powerpoint/2010/main" val="346767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11</a:t>
            </a:fld>
            <a:endParaRPr lang="en-US"/>
          </a:p>
        </p:txBody>
      </p:sp>
    </p:spTree>
    <p:extLst>
      <p:ext uri="{BB962C8B-B14F-4D97-AF65-F5344CB8AC3E}">
        <p14:creationId xmlns:p14="http://schemas.microsoft.com/office/powerpoint/2010/main" val="29863874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74E77-8F7F-C091-A6CD-F95913330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F8D03-BCD3-2516-5A17-7890FD56F6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43AAD0-5D1A-5384-531C-8A99D3C1553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E54F1F-92BA-AFB1-9D22-E7208D0FEDEF}"/>
              </a:ext>
            </a:extLst>
          </p:cNvPr>
          <p:cNvSpPr>
            <a:spLocks noGrp="1"/>
          </p:cNvSpPr>
          <p:nvPr>
            <p:ph type="sldNum" sz="quarter" idx="5"/>
          </p:nvPr>
        </p:nvSpPr>
        <p:spPr/>
        <p:txBody>
          <a:bodyPr/>
          <a:lstStyle/>
          <a:p>
            <a:fld id="{55247812-3409-784D-BAE7-ABE53735D59F}" type="slidenum">
              <a:rPr lang="en-US" smtClean="0"/>
              <a:t>12</a:t>
            </a:fld>
            <a:endParaRPr lang="en-US"/>
          </a:p>
        </p:txBody>
      </p:sp>
    </p:spTree>
    <p:extLst>
      <p:ext uri="{BB962C8B-B14F-4D97-AF65-F5344CB8AC3E}">
        <p14:creationId xmlns:p14="http://schemas.microsoft.com/office/powerpoint/2010/main" val="4126273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7/9/2025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7/9/2025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dirty="0"/>
              <a:t>Click to edit Master title style</a:t>
            </a:r>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7/9/2025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7/9/2025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7/9/2025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7/9/2025</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632155" y="1991032"/>
            <a:ext cx="9144000" cy="2286000"/>
          </a:xfrm>
        </p:spPr>
        <p:txBody>
          <a:bodyPr/>
          <a:lstStyle/>
          <a:p>
            <a:r>
              <a:rPr lang="en-US" b="1" dirty="0"/>
              <a:t>Heart Disease prediction</a:t>
            </a:r>
          </a:p>
        </p:txBody>
      </p:sp>
      <p:sp>
        <p:nvSpPr>
          <p:cNvPr id="2" name="TextBox 1">
            <a:extLst>
              <a:ext uri="{FF2B5EF4-FFF2-40B4-BE49-F238E27FC236}">
                <a16:creationId xmlns:a16="http://schemas.microsoft.com/office/drawing/2014/main" id="{848649F8-E4CA-CED0-754E-FA8AF1B09A85}"/>
              </a:ext>
            </a:extLst>
          </p:cNvPr>
          <p:cNvSpPr txBox="1"/>
          <p:nvPr/>
        </p:nvSpPr>
        <p:spPr>
          <a:xfrm>
            <a:off x="7089058" y="3647768"/>
            <a:ext cx="3185651" cy="523220"/>
          </a:xfrm>
          <a:prstGeom prst="rect">
            <a:avLst/>
          </a:prstGeom>
          <a:noFill/>
        </p:spPr>
        <p:txBody>
          <a:bodyPr wrap="square" rtlCol="0">
            <a:spAutoFit/>
          </a:bodyPr>
          <a:lstStyle/>
          <a:p>
            <a:r>
              <a:rPr lang="en-IN" sz="2800" b="1" i="1" dirty="0">
                <a:solidFill>
                  <a:schemeClr val="bg2"/>
                </a:solidFill>
                <a:latin typeface="Gabriola" panose="04040605051002020D02" pitchFamily="82" charset="0"/>
              </a:rPr>
              <a:t>by Jitendra </a:t>
            </a:r>
            <a:r>
              <a:rPr lang="en-IN" sz="2800" b="1" i="1" dirty="0" err="1">
                <a:solidFill>
                  <a:schemeClr val="bg2"/>
                </a:solidFill>
                <a:latin typeface="Gabriola" panose="04040605051002020D02" pitchFamily="82" charset="0"/>
              </a:rPr>
              <a:t>singh</a:t>
            </a:r>
            <a:r>
              <a:rPr lang="en-IN" sz="2800" b="1" i="1" dirty="0">
                <a:solidFill>
                  <a:schemeClr val="bg2"/>
                </a:solidFill>
                <a:latin typeface="Gabriola" panose="04040605051002020D02" pitchFamily="82" charset="0"/>
              </a:rPr>
              <a:t> kushwah</a:t>
            </a:r>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6562816" y="457200"/>
            <a:ext cx="4837176" cy="653845"/>
          </a:xfrm>
          <a:noFill/>
        </p:spPr>
        <p:txBody>
          <a:bodyPr anchor="b">
            <a:noAutofit/>
          </a:bodyPr>
          <a:lstStyle/>
          <a:p>
            <a:r>
              <a:rPr lang="en-US" dirty="0"/>
              <a:t>Table of Contents</a:t>
            </a:r>
          </a:p>
        </p:txBody>
      </p:sp>
      <p:sp>
        <p:nvSpPr>
          <p:cNvPr id="5" name="Rectangle 2">
            <a:extLst>
              <a:ext uri="{FF2B5EF4-FFF2-40B4-BE49-F238E27FC236}">
                <a16:creationId xmlns:a16="http://schemas.microsoft.com/office/drawing/2014/main" id="{554C203C-1158-838F-1E1C-B2E697A06FF0}"/>
              </a:ext>
            </a:extLst>
          </p:cNvPr>
          <p:cNvSpPr>
            <a:spLocks noGrp="1" noChangeArrowheads="1"/>
          </p:cNvSpPr>
          <p:nvPr>
            <p:ph idx="1"/>
          </p:nvPr>
        </p:nvSpPr>
        <p:spPr bwMode="auto">
          <a:xfrm>
            <a:off x="5917327" y="1322487"/>
            <a:ext cx="6128152"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algn="just" eaLnBrk="0" fontAlgn="base" hangingPunct="0">
              <a:lnSpc>
                <a:spcPct val="100000"/>
              </a:lnSpc>
              <a:spcBef>
                <a:spcPct val="0"/>
              </a:spcBef>
              <a:spcAft>
                <a:spcPct val="0"/>
              </a:spcAft>
              <a:buFont typeface="Arial" panose="020B0604020202020204" pitchFamily="34" charset="0"/>
              <a:buChar char="•"/>
            </a:pPr>
            <a:r>
              <a:rPr kumimoji="0" lang="en-US" altLang="en-US" i="0" u="none" strike="noStrike" cap="none" normalizeH="0" baseline="0" dirty="0">
                <a:ln>
                  <a:noFill/>
                </a:ln>
                <a:effectLst/>
                <a:latin typeface="Arial" panose="020B0604020202020204" pitchFamily="34" charset="0"/>
                <a:cs typeface="Arial" panose="020B0604020202020204" pitchFamily="34" charset="0"/>
              </a:rPr>
              <a:t> </a:t>
            </a:r>
            <a:r>
              <a:rPr lang="en-US" dirty="0">
                <a:cs typeface="Arial" panose="020B0604020202020204" pitchFamily="34" charset="0"/>
              </a:rPr>
              <a:t>Introduction</a:t>
            </a:r>
          </a:p>
          <a:p>
            <a:pPr marL="285750" lvl="0" indent="-285750" algn="just" eaLnBrk="0" fontAlgn="base" hangingPunct="0">
              <a:lnSpc>
                <a:spcPct val="100000"/>
              </a:lnSpc>
              <a:spcBef>
                <a:spcPct val="0"/>
              </a:spcBef>
              <a:spcAft>
                <a:spcPct val="0"/>
              </a:spcAft>
              <a:buFont typeface="Arial" panose="020B0604020202020204" pitchFamily="34" charset="0"/>
              <a:buChar char="•"/>
            </a:pPr>
            <a:endParaRPr kumimoji="0" lang="en-US" altLang="en-US" i="0" u="none" strike="noStrike" cap="none" normalizeH="0" baseline="0" dirty="0">
              <a:ln>
                <a:noFill/>
              </a:ln>
              <a:effectLst/>
              <a:cs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cs typeface="Arial" panose="020B0604020202020204" pitchFamily="34" charset="0"/>
              </a:rPr>
              <a:t> Dataset Overview</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i="0" u="none" strike="noStrike" cap="none" normalizeH="0" baseline="0" dirty="0">
              <a:ln>
                <a:noFill/>
              </a:ln>
              <a:solidFill>
                <a:schemeClr val="tx1"/>
              </a:solidFill>
              <a:effectLst/>
              <a:cs typeface="Arial" panose="020B0604020202020204" pitchFamily="34" charset="0"/>
            </a:endParaRPr>
          </a:p>
          <a:p>
            <a:pPr marL="285750" lvl="0" indent="-285750" algn="just" eaLnBrk="0" fontAlgn="base" hangingPunct="0">
              <a:lnSpc>
                <a:spcPct val="100000"/>
              </a:lnSpc>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cs typeface="Arial" panose="020B0604020202020204" pitchFamily="34" charset="0"/>
              </a:rPr>
              <a:t> </a:t>
            </a:r>
            <a:r>
              <a:rPr lang="en-IN" dirty="0">
                <a:cs typeface="Arial" panose="020B0604020202020204" pitchFamily="34" charset="0"/>
              </a:rPr>
              <a:t>Data Exploration (EDA) &amp; Visualization</a:t>
            </a:r>
          </a:p>
          <a:p>
            <a:pPr marL="285750" lvl="0" indent="-285750" algn="just" eaLnBrk="0" fontAlgn="base" hangingPunct="0">
              <a:lnSpc>
                <a:spcPct val="100000"/>
              </a:lnSpc>
              <a:spcBef>
                <a:spcPct val="0"/>
              </a:spcBef>
              <a:spcAft>
                <a:spcPct val="0"/>
              </a:spcAft>
              <a:buFont typeface="Arial" panose="020B0604020202020204" pitchFamily="34" charset="0"/>
              <a:buChar char="•"/>
            </a:pPr>
            <a:endParaRPr kumimoji="0" lang="en-US" altLang="en-US" i="0" u="none" strike="noStrike" cap="none" normalizeH="0" baseline="0" dirty="0">
              <a:ln>
                <a:noFill/>
              </a:ln>
              <a:solidFill>
                <a:schemeClr val="tx1"/>
              </a:solidFill>
              <a:effectLst/>
              <a:cs typeface="Arial" panose="020B0604020202020204" pitchFamily="34" charset="0"/>
            </a:endParaRPr>
          </a:p>
          <a:p>
            <a:pPr marL="285750" lvl="0" indent="-285750" algn="just" eaLnBrk="0" fontAlgn="base" hangingPunct="0">
              <a:lnSpc>
                <a:spcPct val="100000"/>
              </a:lnSpc>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cs typeface="Arial" panose="020B0604020202020204" pitchFamily="34" charset="0"/>
              </a:rPr>
              <a:t> </a:t>
            </a:r>
            <a:r>
              <a:rPr lang="en-IN" dirty="0">
                <a:cs typeface="Arial" panose="020B0604020202020204" pitchFamily="34" charset="0"/>
              </a:rPr>
              <a:t>Data Processing</a:t>
            </a:r>
            <a:endParaRPr kumimoji="0" lang="en-US" altLang="en-US" i="0" u="none" strike="noStrike" cap="none" normalizeH="0" baseline="0" dirty="0">
              <a:ln>
                <a:noFill/>
              </a:ln>
              <a:solidFill>
                <a:schemeClr val="tx1"/>
              </a:solidFill>
              <a:effectLst/>
              <a:cs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i="0" u="none" strike="noStrike" cap="none" normalizeH="0" baseline="0" dirty="0">
              <a:ln>
                <a:noFill/>
              </a:ln>
              <a:solidFill>
                <a:schemeClr val="tx1"/>
              </a:solidFill>
              <a:effectLst/>
              <a:cs typeface="Arial" panose="020B0604020202020204" pitchFamily="34" charset="0"/>
            </a:endParaRPr>
          </a:p>
          <a:p>
            <a:pPr marL="285750" lvl="0" indent="-285750" algn="just" eaLnBrk="0" fontAlgn="base" hangingPunct="0">
              <a:lnSpc>
                <a:spcPct val="100000"/>
              </a:lnSpc>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cs typeface="Arial" panose="020B0604020202020204" pitchFamily="34" charset="0"/>
              </a:rPr>
              <a:t> </a:t>
            </a:r>
            <a:r>
              <a:rPr lang="en-IN" dirty="0">
                <a:cs typeface="Arial" panose="020B0604020202020204" pitchFamily="34" charset="0"/>
              </a:rPr>
              <a:t>Preprocessing Pipeline Setup</a:t>
            </a:r>
          </a:p>
          <a:p>
            <a:pPr marL="285750" lvl="0" indent="-285750" algn="just" eaLnBrk="0" fontAlgn="base" hangingPunct="0">
              <a:lnSpc>
                <a:spcPct val="100000"/>
              </a:lnSpc>
              <a:spcBef>
                <a:spcPct val="0"/>
              </a:spcBef>
              <a:spcAft>
                <a:spcPct val="0"/>
              </a:spcAft>
              <a:buFont typeface="Arial" panose="020B0604020202020204" pitchFamily="34" charset="0"/>
              <a:buChar char="•"/>
            </a:pPr>
            <a:endParaRPr kumimoji="0" lang="en-US" altLang="en-US" i="0" u="none" strike="noStrike" cap="none" normalizeH="0" baseline="0" dirty="0">
              <a:ln>
                <a:noFill/>
              </a:ln>
              <a:solidFill>
                <a:schemeClr val="tx1"/>
              </a:solidFill>
              <a:effectLst/>
              <a:cs typeface="Arial" panose="020B0604020202020204" pitchFamily="34" charset="0"/>
            </a:endParaRPr>
          </a:p>
          <a:p>
            <a:pPr marL="285750" lvl="0" indent="-285750" algn="just" eaLnBrk="0" fontAlgn="base" hangingPunct="0">
              <a:lnSpc>
                <a:spcPct val="100000"/>
              </a:lnSpc>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cs typeface="Arial" panose="020B0604020202020204" pitchFamily="34" charset="0"/>
              </a:rPr>
              <a:t> </a:t>
            </a:r>
            <a:r>
              <a:rPr lang="en-US" dirty="0">
                <a:cs typeface="Arial" panose="020B0604020202020204" pitchFamily="34" charset="0"/>
              </a:rPr>
              <a:t>Test-train split and model training</a:t>
            </a:r>
          </a:p>
          <a:p>
            <a:pPr marL="285750" lvl="0" indent="-285750" algn="just" eaLnBrk="0" fontAlgn="base" hangingPunct="0">
              <a:lnSpc>
                <a:spcPct val="100000"/>
              </a:lnSpc>
              <a:spcBef>
                <a:spcPct val="0"/>
              </a:spcBef>
              <a:spcAft>
                <a:spcPct val="0"/>
              </a:spcAft>
              <a:buFont typeface="Arial" panose="020B0604020202020204" pitchFamily="34" charset="0"/>
              <a:buChar char="•"/>
            </a:pPr>
            <a:endParaRPr lang="en-US" dirty="0">
              <a:cs typeface="Arial" panose="020B0604020202020204" pitchFamily="34" charset="0"/>
            </a:endParaRPr>
          </a:p>
          <a:p>
            <a:pPr marL="285750" lvl="0" indent="-285750" algn="just" eaLnBrk="0" fontAlgn="base" hangingPunct="0">
              <a:lnSpc>
                <a:spcPct val="100000"/>
              </a:lnSpc>
              <a:spcBef>
                <a:spcPct val="0"/>
              </a:spcBef>
              <a:spcAft>
                <a:spcPct val="0"/>
              </a:spcAft>
              <a:buFont typeface="Arial" panose="020B0604020202020204" pitchFamily="34" charset="0"/>
              <a:buChar char="•"/>
            </a:pPr>
            <a:r>
              <a:rPr lang="en-US" dirty="0">
                <a:cs typeface="Arial" panose="020B0604020202020204" pitchFamily="34" charset="0"/>
              </a:rPr>
              <a:t> Model evaluation</a:t>
            </a:r>
          </a:p>
          <a:p>
            <a:pPr marL="285750" lvl="0" indent="-285750" algn="just" eaLnBrk="0" fontAlgn="base" hangingPunct="0">
              <a:lnSpc>
                <a:spcPct val="100000"/>
              </a:lnSpc>
              <a:spcBef>
                <a:spcPct val="0"/>
              </a:spcBef>
              <a:spcAft>
                <a:spcPct val="0"/>
              </a:spcAft>
              <a:buFont typeface="Arial" panose="020B0604020202020204" pitchFamily="34" charset="0"/>
              <a:buChar char="•"/>
            </a:pPr>
            <a:endParaRPr lang="en-US" dirty="0">
              <a:cs typeface="Arial" panose="020B0604020202020204" pitchFamily="34" charset="0"/>
            </a:endParaRPr>
          </a:p>
          <a:p>
            <a:pPr marL="285750" lvl="0" indent="-285750" algn="just" eaLnBrk="0" fontAlgn="base" hangingPunct="0">
              <a:lnSpc>
                <a:spcPct val="100000"/>
              </a:lnSpc>
              <a:spcBef>
                <a:spcPct val="0"/>
              </a:spcBef>
              <a:spcAft>
                <a:spcPct val="0"/>
              </a:spcAft>
              <a:buFont typeface="Arial" panose="020B0604020202020204" pitchFamily="34" charset="0"/>
              <a:buChar char="•"/>
            </a:pPr>
            <a:r>
              <a:rPr lang="en-US" dirty="0">
                <a:cs typeface="Arial" panose="020B0604020202020204" pitchFamily="34" charset="0"/>
              </a:rPr>
              <a:t> Model COMPARISON &amp; TAKEAWAYS</a:t>
            </a:r>
          </a:p>
          <a:p>
            <a:pPr marL="285750" lvl="0" indent="-285750" algn="just" eaLnBrk="0" fontAlgn="base" hangingPunct="0">
              <a:lnSpc>
                <a:spcPct val="100000"/>
              </a:lnSpc>
              <a:spcBef>
                <a:spcPct val="0"/>
              </a:spcBef>
              <a:spcAft>
                <a:spcPct val="0"/>
              </a:spcAft>
              <a:buFont typeface="Arial" panose="020B0604020202020204" pitchFamily="34" charset="0"/>
              <a:buChar char="•"/>
            </a:pPr>
            <a:endParaRPr kumimoji="0" lang="en-US" altLang="en-US" i="0" u="none" strike="noStrike" cap="none" normalizeH="0" baseline="0" dirty="0">
              <a:ln>
                <a:noFill/>
              </a:ln>
              <a:solidFill>
                <a:schemeClr val="tx1"/>
              </a:solidFill>
              <a:effectLst/>
              <a:cs typeface="Arial" panose="020B0604020202020204" pitchFamily="34" charset="0"/>
            </a:endParaRPr>
          </a:p>
          <a:p>
            <a:pPr marL="285750" lvl="0" indent="-285750" algn="just" eaLnBrk="0" fontAlgn="base" hangingPunct="0">
              <a:lnSpc>
                <a:spcPct val="100000"/>
              </a:lnSpc>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cs typeface="Arial" panose="020B0604020202020204" pitchFamily="34" charset="0"/>
              </a:rPr>
              <a:t> </a:t>
            </a:r>
            <a:r>
              <a:rPr lang="en-US" dirty="0">
                <a:cs typeface="Arial" panose="020B0604020202020204" pitchFamily="34" charset="0"/>
              </a:rPr>
              <a:t>Final visualization and conclusion</a:t>
            </a:r>
          </a:p>
          <a:p>
            <a:pPr lvl="0" algn="just" eaLnBrk="0" fontAlgn="base" hangingPunct="0">
              <a:lnSpc>
                <a:spcPct val="100000"/>
              </a:lnSpc>
              <a:spcBef>
                <a:spcPct val="0"/>
              </a:spcBef>
              <a:spcAft>
                <a:spcPct val="0"/>
              </a:spcAf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pic>
        <p:nvPicPr>
          <p:cNvPr id="13" name="Picture Placeholder 12">
            <a:extLst>
              <a:ext uri="{FF2B5EF4-FFF2-40B4-BE49-F238E27FC236}">
                <a16:creationId xmlns:a16="http://schemas.microsoft.com/office/drawing/2014/main" id="{327875D6-97F0-38E0-110A-5C65729D9675}"/>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310" r="310"/>
          <a:stretch>
            <a:fillRect/>
          </a:stretch>
        </p:blipFill>
        <p:spPr>
          <a:xfrm>
            <a:off x="-19050" y="0"/>
            <a:ext cx="6115050" cy="6858000"/>
          </a:xfrm>
        </p:spPr>
      </p:pic>
    </p:spTree>
    <p:extLst>
      <p:ext uri="{BB962C8B-B14F-4D97-AF65-F5344CB8AC3E}">
        <p14:creationId xmlns:p14="http://schemas.microsoft.com/office/powerpoint/2010/main" val="167201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close up of computer code">
            <a:extLst>
              <a:ext uri="{FF2B5EF4-FFF2-40B4-BE49-F238E27FC236}">
                <a16:creationId xmlns:a16="http://schemas.microsoft.com/office/drawing/2014/main" id="{94D43AA7-0244-2FEB-86AC-B5DECE0232D8}"/>
              </a:ext>
            </a:extLst>
          </p:cNvPr>
          <p:cNvPicPr>
            <a:picLocks noGrp="1" noChangeAspect="1"/>
          </p:cNvPicPr>
          <p:nvPr>
            <p:ph type="pic" sz="quarter" idx="10"/>
          </p:nvPr>
        </p:nvPicPr>
        <p:blipFill rotWithShape="1">
          <a:blip r:embed="rId3">
            <a:alphaModFix amt="40000"/>
            <a:extLst>
              <a:ext uri="{BEBA8EAE-BF5A-486C-A8C5-ECC9F3942E4B}">
                <a14:imgProps xmlns:a14="http://schemas.microsoft.com/office/drawing/2010/main">
                  <a14:imgLayer r:embed="rId4">
                    <a14:imgEffect>
                      <a14:saturation sat="0"/>
                    </a14:imgEffect>
                  </a14:imgLayer>
                </a14:imgProps>
              </a:ext>
            </a:extLst>
          </a:blip>
          <a:srcRect t="7813" b="7813"/>
          <a:stretch/>
        </p:blipFill>
        <p:spPr>
          <a:xfrm>
            <a:off x="0" y="0"/>
            <a:ext cx="12192000" cy="6858000"/>
          </a:xfrm>
        </p:spPr>
      </p:pic>
      <p:sp>
        <p:nvSpPr>
          <p:cNvPr id="3" name="Title 2">
            <a:extLst>
              <a:ext uri="{FF2B5EF4-FFF2-40B4-BE49-F238E27FC236}">
                <a16:creationId xmlns:a16="http://schemas.microsoft.com/office/drawing/2014/main" id="{B2F3FA79-DE26-1F2A-0CF7-5671B73C8B6F}"/>
              </a:ext>
            </a:extLst>
          </p:cNvPr>
          <p:cNvSpPr>
            <a:spLocks noGrp="1"/>
          </p:cNvSpPr>
          <p:nvPr>
            <p:ph type="ctrTitle"/>
          </p:nvPr>
        </p:nvSpPr>
        <p:spPr>
          <a:xfrm>
            <a:off x="1160206" y="712839"/>
            <a:ext cx="9144000" cy="909484"/>
          </a:xfrm>
        </p:spPr>
        <p:txBody>
          <a:bodyPr/>
          <a:lstStyle/>
          <a:p>
            <a:r>
              <a:rPr lang="en-US" b="1" dirty="0">
                <a:solidFill>
                  <a:schemeClr val="bg2"/>
                </a:solidFill>
              </a:rPr>
              <a:t>Introduction</a:t>
            </a:r>
          </a:p>
        </p:txBody>
      </p:sp>
      <p:sp>
        <p:nvSpPr>
          <p:cNvPr id="6" name="TextBox 5">
            <a:extLst>
              <a:ext uri="{FF2B5EF4-FFF2-40B4-BE49-F238E27FC236}">
                <a16:creationId xmlns:a16="http://schemas.microsoft.com/office/drawing/2014/main" id="{84FE77F6-C6EB-9628-652A-1C590BC05221}"/>
              </a:ext>
            </a:extLst>
          </p:cNvPr>
          <p:cNvSpPr txBox="1"/>
          <p:nvPr/>
        </p:nvSpPr>
        <p:spPr>
          <a:xfrm>
            <a:off x="727588" y="1868129"/>
            <a:ext cx="10540180" cy="3416320"/>
          </a:xfrm>
          <a:prstGeom prst="rect">
            <a:avLst/>
          </a:prstGeom>
          <a:noFill/>
        </p:spPr>
        <p:txBody>
          <a:bodyPr wrap="square" rtlCol="0">
            <a:spAutoFit/>
          </a:bodyPr>
          <a:lstStyle/>
          <a:p>
            <a:pPr algn="just"/>
            <a:r>
              <a:rPr lang="en-US" sz="2400" dirty="0">
                <a:solidFill>
                  <a:schemeClr val="bg2"/>
                </a:solidFill>
              </a:rPr>
              <a:t>Heart disease is one of the leading causes of death worldwide. Early detection plays a vital role in preventing life-threatening outcomes. With the increasing availability of medical data, machine learning (ML) techniques can be leveraged to assist in accurate and early diagnosis of heart disease.</a:t>
            </a:r>
          </a:p>
          <a:p>
            <a:pPr algn="just"/>
            <a:endParaRPr lang="en-US" sz="2400" dirty="0">
              <a:solidFill>
                <a:schemeClr val="bg2"/>
              </a:solidFill>
            </a:endParaRPr>
          </a:p>
          <a:p>
            <a:pPr algn="just"/>
            <a:r>
              <a:rPr lang="en-US" sz="2400" dirty="0">
                <a:solidFill>
                  <a:schemeClr val="bg2"/>
                </a:solidFill>
              </a:rPr>
              <a:t>In this project, we explore and compare various machine learning models and a neural network to classify patients as either having heart disease or not based on clinical attributes. We apply preprocessing, perform hyperparameter tuning, and evaluate models using multiple metrics to determine the most effective approach</a:t>
            </a:r>
            <a:r>
              <a:rPr lang="en-US" sz="2000" b="1" dirty="0"/>
              <a:t>.</a:t>
            </a:r>
          </a:p>
        </p:txBody>
      </p:sp>
    </p:spTree>
    <p:extLst>
      <p:ext uri="{BB962C8B-B14F-4D97-AF65-F5344CB8AC3E}">
        <p14:creationId xmlns:p14="http://schemas.microsoft.com/office/powerpoint/2010/main" val="467869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3467510" y="425162"/>
            <a:ext cx="5066250" cy="427867"/>
          </a:xfrm>
          <a:noFill/>
        </p:spPr>
        <p:txBody>
          <a:bodyPr>
            <a:noAutofit/>
          </a:bodyPr>
          <a:lstStyle/>
          <a:p>
            <a:r>
              <a:rPr lang="en-US" dirty="0"/>
              <a:t>Dataset overview</a:t>
            </a:r>
          </a:p>
        </p:txBody>
      </p:sp>
      <p:sp>
        <p:nvSpPr>
          <p:cNvPr id="15" name="Subtitle 14">
            <a:extLst>
              <a:ext uri="{FF2B5EF4-FFF2-40B4-BE49-F238E27FC236}">
                <a16:creationId xmlns:a16="http://schemas.microsoft.com/office/drawing/2014/main" id="{9C373000-EEA1-D16F-189A-338FFDA2E708}"/>
              </a:ext>
            </a:extLst>
          </p:cNvPr>
          <p:cNvSpPr>
            <a:spLocks noGrp="1"/>
          </p:cNvSpPr>
          <p:nvPr>
            <p:ph type="subTitle" idx="1"/>
          </p:nvPr>
        </p:nvSpPr>
        <p:spPr>
          <a:xfrm>
            <a:off x="934065" y="3664359"/>
            <a:ext cx="10464800" cy="2554545"/>
          </a:xfrm>
        </p:spPr>
        <p:txBody>
          <a:bodyPr>
            <a:normAutofit/>
          </a:bodyPr>
          <a:lstStyle/>
          <a:p>
            <a:r>
              <a:rPr lang="en-IN" sz="2000" dirty="0"/>
              <a:t>age sex cp </a:t>
            </a:r>
            <a:r>
              <a:rPr lang="en-IN" sz="2000" dirty="0" err="1"/>
              <a:t>trestbps</a:t>
            </a:r>
            <a:r>
              <a:rPr lang="en-IN" sz="2000" dirty="0"/>
              <a:t> </a:t>
            </a:r>
            <a:r>
              <a:rPr lang="en-IN" sz="2000" dirty="0" err="1"/>
              <a:t>chol</a:t>
            </a:r>
            <a:r>
              <a:rPr lang="en-IN" sz="2000" dirty="0"/>
              <a:t> </a:t>
            </a:r>
            <a:r>
              <a:rPr lang="en-IN" sz="2000" dirty="0" err="1"/>
              <a:t>fbs</a:t>
            </a:r>
            <a:r>
              <a:rPr lang="en-IN" sz="2000" dirty="0"/>
              <a:t> </a:t>
            </a:r>
            <a:r>
              <a:rPr lang="en-IN" sz="2000" dirty="0" err="1"/>
              <a:t>restecg</a:t>
            </a:r>
            <a:r>
              <a:rPr lang="en-IN" sz="2000" dirty="0"/>
              <a:t> </a:t>
            </a:r>
            <a:r>
              <a:rPr lang="en-IN" sz="2000" dirty="0" err="1"/>
              <a:t>thalach</a:t>
            </a:r>
            <a:r>
              <a:rPr lang="en-IN" sz="2000" dirty="0"/>
              <a:t> </a:t>
            </a:r>
            <a:r>
              <a:rPr lang="en-IN" sz="2000" dirty="0" err="1"/>
              <a:t>exang</a:t>
            </a:r>
            <a:r>
              <a:rPr lang="en-IN" sz="2000" dirty="0"/>
              <a:t> </a:t>
            </a:r>
            <a:r>
              <a:rPr lang="en-IN" sz="2000" dirty="0" err="1"/>
              <a:t>oldpeak</a:t>
            </a:r>
            <a:r>
              <a:rPr lang="en-IN" sz="2000" dirty="0"/>
              <a:t> slope ca </a:t>
            </a:r>
            <a:r>
              <a:rPr lang="en-IN" sz="2000" dirty="0" err="1"/>
              <a:t>thal</a:t>
            </a:r>
            <a:r>
              <a:rPr lang="en-IN" sz="2000" dirty="0"/>
              <a:t> </a:t>
            </a:r>
            <a:r>
              <a:rPr lang="en-IN" sz="2000" dirty="0" err="1"/>
              <a:t>num</a:t>
            </a:r>
            <a:r>
              <a:rPr lang="en-IN" sz="2000" dirty="0"/>
              <a:t> </a:t>
            </a:r>
          </a:p>
          <a:p>
            <a:r>
              <a:rPr lang="en-IN" sz="2000" dirty="0"/>
              <a:t>298    45.0    1.0    1.0    110.0     264.0     0.0     0.0     132.0     0.0     1.2     2.0     0.0     7.0    1 </a:t>
            </a:r>
          </a:p>
          <a:p>
            <a:r>
              <a:rPr lang="en-IN" sz="2000" dirty="0"/>
              <a:t>  299     68.0    1.0	    4.0     144.0      193.0     1.0     0.0     141.0    0.0     3.4     2.0      2.0    7.0    1 </a:t>
            </a:r>
          </a:p>
          <a:p>
            <a:r>
              <a:rPr lang="en-IN" sz="2000" dirty="0"/>
              <a:t>  300    57.0     1.0    4.0    130.0     131.0     0.0     0.0     115.0     1.0     1.2      2.0     1.0      7.0     1</a:t>
            </a:r>
          </a:p>
          <a:p>
            <a:r>
              <a:rPr lang="en-US" sz="1100" dirty="0"/>
              <a:t>	</a:t>
            </a:r>
            <a:endParaRPr lang="en-US" sz="1600" dirty="0"/>
          </a:p>
        </p:txBody>
      </p:sp>
      <p:sp>
        <p:nvSpPr>
          <p:cNvPr id="11" name="Rectangle 4">
            <a:extLst>
              <a:ext uri="{FF2B5EF4-FFF2-40B4-BE49-F238E27FC236}">
                <a16:creationId xmlns:a16="http://schemas.microsoft.com/office/drawing/2014/main" id="{D982C609-33B5-31FE-6770-1200B24B8ECD}"/>
              </a:ext>
            </a:extLst>
          </p:cNvPr>
          <p:cNvSpPr>
            <a:spLocks noChangeArrowheads="1"/>
          </p:cNvSpPr>
          <p:nvPr/>
        </p:nvSpPr>
        <p:spPr bwMode="auto">
          <a:xfrm>
            <a:off x="793135" y="955926"/>
            <a:ext cx="911979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mj-lt"/>
              </a:rPr>
              <a:t>Source:</a:t>
            </a:r>
            <a:r>
              <a:rPr lang="en-US" altLang="en-US" sz="2000" dirty="0">
                <a:latin typeface="+mj-lt"/>
              </a:rPr>
              <a:t> </a:t>
            </a:r>
            <a:r>
              <a:rPr kumimoji="0" lang="en-US" altLang="en-US" sz="2000" b="0" i="0" u="none" strike="noStrike" cap="none" normalizeH="0" baseline="0" dirty="0">
                <a:ln>
                  <a:noFill/>
                </a:ln>
                <a:solidFill>
                  <a:schemeClr val="tx1"/>
                </a:solidFill>
                <a:effectLst/>
                <a:latin typeface="+mj-lt"/>
              </a:rPr>
              <a:t>Cleaned dataset derived from UCI Heart Disease dataset.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 Target Variable:</a:t>
            </a:r>
            <a:r>
              <a:rPr lang="en-US" altLang="en-US" sz="2000" dirty="0">
                <a:latin typeface="+mj-lt"/>
              </a:rPr>
              <a:t> </a:t>
            </a:r>
            <a:r>
              <a:rPr kumimoji="0" lang="en-US" altLang="en-US" sz="2000" b="0" i="0" u="none" strike="noStrike" cap="none" normalizeH="0" baseline="0" dirty="0">
                <a:ln>
                  <a:noFill/>
                </a:ln>
                <a:solidFill>
                  <a:schemeClr val="tx1"/>
                </a:solidFill>
                <a:effectLst/>
                <a:latin typeface="+mj-lt"/>
              </a:rPr>
              <a:t>num (Binarized: 0 = no disease, 1 = disease)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 Features:</a:t>
            </a:r>
            <a:endParaRPr kumimoji="0" lang="en-US" altLang="en-US" sz="20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mj-lt"/>
              </a:rPr>
              <a:t>          Numerical:</a:t>
            </a:r>
            <a:r>
              <a:rPr kumimoji="0" lang="en-US" altLang="en-US" sz="2000" b="0" i="0" u="none" strike="noStrike" cap="none" normalizeH="0" baseline="0" dirty="0">
                <a:ln>
                  <a:noFill/>
                </a:ln>
                <a:solidFill>
                  <a:schemeClr val="tx1"/>
                </a:solidFill>
                <a:effectLst/>
                <a:latin typeface="+mj-lt"/>
              </a:rPr>
              <a:t> age, </a:t>
            </a:r>
            <a:r>
              <a:rPr kumimoji="0" lang="en-US" altLang="en-US" sz="2000" b="0" i="0" u="none" strike="noStrike" cap="none" normalizeH="0" baseline="0" dirty="0" err="1">
                <a:ln>
                  <a:noFill/>
                </a:ln>
                <a:solidFill>
                  <a:schemeClr val="tx1"/>
                </a:solidFill>
                <a:effectLst/>
                <a:latin typeface="+mj-lt"/>
              </a:rPr>
              <a:t>trestbps</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chol</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thalach</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oldpeak</a:t>
            </a:r>
            <a:r>
              <a:rPr kumimoji="0" lang="en-US" altLang="en-US" sz="2000" b="0" i="0" u="none" strike="noStrike" cap="none" normalizeH="0" baseline="0" dirty="0">
                <a:ln>
                  <a:noFill/>
                </a:ln>
                <a:solidFill>
                  <a:schemeClr val="tx1"/>
                </a:solidFill>
                <a:effectLst/>
                <a:latin typeface="+mj-lt"/>
              </a:rPr>
              <a:t>, ca</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mj-lt"/>
              </a:rPr>
              <a:t>          Categorical:</a:t>
            </a:r>
            <a:r>
              <a:rPr kumimoji="0" lang="en-US" altLang="en-US" sz="2000" b="0" i="0" u="none" strike="noStrike" cap="none" normalizeH="0" baseline="0" dirty="0">
                <a:ln>
                  <a:noFill/>
                </a:ln>
                <a:solidFill>
                  <a:schemeClr val="tx1"/>
                </a:solidFill>
                <a:effectLst/>
                <a:latin typeface="+mj-lt"/>
              </a:rPr>
              <a:t> sex, cp, </a:t>
            </a:r>
            <a:r>
              <a:rPr kumimoji="0" lang="en-US" altLang="en-US" sz="2000" b="0" i="0" u="none" strike="noStrike" cap="none" normalizeH="0" baseline="0" dirty="0" err="1">
                <a:ln>
                  <a:noFill/>
                </a:ln>
                <a:solidFill>
                  <a:schemeClr val="tx1"/>
                </a:solidFill>
                <a:effectLst/>
                <a:latin typeface="+mj-lt"/>
              </a:rPr>
              <a:t>fbs</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restecg</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exang</a:t>
            </a:r>
            <a:r>
              <a:rPr kumimoji="0" lang="en-US" altLang="en-US" sz="2000" b="0" i="0" u="none" strike="noStrike" cap="none" normalizeH="0" baseline="0" dirty="0">
                <a:ln>
                  <a:noFill/>
                </a:ln>
                <a:solidFill>
                  <a:schemeClr val="tx1"/>
                </a:solidFill>
                <a:effectLst/>
                <a:latin typeface="+mj-lt"/>
              </a:rPr>
              <a:t>, slope, </a:t>
            </a:r>
            <a:r>
              <a:rPr kumimoji="0" lang="en-US" altLang="en-US" sz="2000" b="0" i="0" u="none" strike="noStrike" cap="none" normalizeH="0" baseline="0" dirty="0" err="1">
                <a:ln>
                  <a:noFill/>
                </a:ln>
                <a:solidFill>
                  <a:schemeClr val="tx1"/>
                </a:solidFill>
                <a:effectLst/>
                <a:latin typeface="+mj-lt"/>
              </a:rPr>
              <a:t>thal</a:t>
            </a:r>
            <a:r>
              <a:rPr kumimoji="0" lang="en-US" altLang="en-US" sz="2000" b="0" i="0" u="none" strike="noStrike" cap="none" normalizeH="0" baseline="0" dirty="0">
                <a:ln>
                  <a:noFill/>
                </a:ln>
                <a:solidFill>
                  <a:schemeClr val="tx1"/>
                </a:solidFill>
                <a:effectLst/>
                <a:latin typeface="+mj-lt"/>
              </a:rPr>
              <a:t> </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mj-lt"/>
              </a:rPr>
              <a:t>          Missing Values:</a:t>
            </a:r>
            <a:r>
              <a:rPr kumimoji="0" lang="en-US" altLang="en-US" sz="2000" b="0" i="0" u="none" strike="noStrike" cap="none" normalizeH="0" baseline="0" dirty="0">
                <a:ln>
                  <a:noFill/>
                </a:ln>
                <a:solidFill>
                  <a:schemeClr val="tx1"/>
                </a:solidFill>
                <a:effectLst/>
                <a:latin typeface="+mj-lt"/>
              </a:rPr>
              <a:t> Handled using </a:t>
            </a:r>
            <a:r>
              <a:rPr kumimoji="0" lang="en-US" altLang="en-US" sz="2000" b="0" i="0" u="none" strike="noStrike" cap="none" normalizeH="0" baseline="0" dirty="0" err="1">
                <a:ln>
                  <a:noFill/>
                </a:ln>
                <a:solidFill>
                  <a:schemeClr val="tx1"/>
                </a:solidFill>
                <a:effectLst/>
                <a:latin typeface="+mj-lt"/>
              </a:rPr>
              <a:t>SimpleImputer</a:t>
            </a:r>
            <a:r>
              <a:rPr kumimoji="0" lang="en-US" altLang="en-US" sz="20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30438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4577832" y="-153088"/>
            <a:ext cx="7570837" cy="1710354"/>
          </a:xfrm>
          <a:noFill/>
        </p:spPr>
        <p:txBody>
          <a:bodyPr anchor="ctr"/>
          <a:lstStyle/>
          <a:p>
            <a:r>
              <a:rPr lang="en-IN" dirty="0"/>
              <a:t>Data Exploration &amp; Visualization</a:t>
            </a:r>
            <a:endParaRPr lang="en-US" dirty="0"/>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4660490" y="973394"/>
            <a:ext cx="7570836" cy="5211096"/>
          </a:xfrm>
          <a:noFill/>
        </p:spPr>
        <p:txBody>
          <a:bodyPr vert="horz" lIns="91440" tIns="45720" rIns="91440" bIns="45720" rtlCol="0" anchor="t">
            <a:noAutofit/>
          </a:bodyPr>
          <a:lstStyle/>
          <a:p>
            <a:pPr marL="0" indent="0">
              <a:buNone/>
            </a:pPr>
            <a:r>
              <a:rPr lang="en-US" sz="2000" b="1" dirty="0">
                <a:latin typeface="+mj-lt"/>
              </a:rPr>
              <a:t>Why Visualization?</a:t>
            </a:r>
          </a:p>
          <a:p>
            <a:r>
              <a:rPr lang="en-US" sz="1600" dirty="0">
                <a:latin typeface="+mj-lt"/>
              </a:rPr>
              <a:t>To understand the structure, distribution, and relationships in the dataset.</a:t>
            </a:r>
          </a:p>
          <a:p>
            <a:r>
              <a:rPr lang="en-US" sz="1600" dirty="0">
                <a:latin typeface="+mj-lt"/>
              </a:rPr>
              <a:t>To detect class imbalances, outliers, missing patterns, and feature importance intuitively.</a:t>
            </a:r>
          </a:p>
          <a:p>
            <a:pPr marL="0" indent="0">
              <a:buNone/>
            </a:pPr>
            <a:r>
              <a:rPr lang="en-US" sz="2000" b="1" dirty="0">
                <a:latin typeface="+mj-lt"/>
              </a:rPr>
              <a:t>Plots Used &amp; Why:</a:t>
            </a:r>
          </a:p>
          <a:p>
            <a:r>
              <a:rPr lang="en-US" sz="1600" b="1" dirty="0">
                <a:latin typeface="+mj-lt"/>
              </a:rPr>
              <a:t>Histograms : </a:t>
            </a:r>
            <a:r>
              <a:rPr lang="en-US" sz="1600" dirty="0">
                <a:latin typeface="+mj-lt"/>
              </a:rPr>
              <a:t>To observe data spread, skewness, and potential outliers.</a:t>
            </a:r>
          </a:p>
          <a:p>
            <a:r>
              <a:rPr lang="en-US" sz="1600" b="1" dirty="0" err="1">
                <a:latin typeface="+mj-lt"/>
              </a:rPr>
              <a:t>Countplots</a:t>
            </a:r>
            <a:r>
              <a:rPr lang="en-US" sz="1600" b="1" dirty="0">
                <a:latin typeface="+mj-lt"/>
              </a:rPr>
              <a:t> : </a:t>
            </a:r>
            <a:r>
              <a:rPr lang="en-US" sz="1600" dirty="0">
                <a:latin typeface="+mj-lt"/>
              </a:rPr>
              <a:t>To view the frequency distribution of categories and detect imbalance.</a:t>
            </a:r>
          </a:p>
          <a:p>
            <a:r>
              <a:rPr lang="en-US" sz="1600" b="1" dirty="0" err="1">
                <a:latin typeface="+mj-lt"/>
              </a:rPr>
              <a:t>Pairplots</a:t>
            </a:r>
            <a:r>
              <a:rPr lang="en-US" sz="1600" b="1" dirty="0">
                <a:latin typeface="+mj-lt"/>
              </a:rPr>
              <a:t> : </a:t>
            </a:r>
            <a:r>
              <a:rPr lang="en-US" sz="1600" dirty="0">
                <a:latin typeface="+mj-lt"/>
              </a:rPr>
              <a:t>To visualize interactions and potential separability between feature pairs.</a:t>
            </a:r>
          </a:p>
          <a:p>
            <a:r>
              <a:rPr lang="en-US" sz="1600" b="1" dirty="0">
                <a:latin typeface="+mj-lt"/>
              </a:rPr>
              <a:t>Correlation Heatmap : </a:t>
            </a:r>
            <a:r>
              <a:rPr lang="en-US" sz="1600" dirty="0">
                <a:latin typeface="+mj-lt"/>
              </a:rPr>
              <a:t>To quantify and visualize linear relationships between numerical features.</a:t>
            </a:r>
          </a:p>
          <a:p>
            <a:r>
              <a:rPr lang="en-US" sz="1600" b="1" dirty="0">
                <a:latin typeface="+mj-lt"/>
              </a:rPr>
              <a:t>Bar Plot of Target Variable : </a:t>
            </a:r>
            <a:r>
              <a:rPr lang="en-US" sz="1600" dirty="0">
                <a:latin typeface="+mj-lt"/>
              </a:rPr>
              <a:t>To assess class balance and justify binary classification.</a:t>
            </a:r>
          </a:p>
          <a:p>
            <a:endParaRPr lang="en-US" sz="1400" dirty="0"/>
          </a:p>
        </p:txBody>
      </p:sp>
      <p:pic>
        <p:nvPicPr>
          <p:cNvPr id="11" name="Picture Placeholder 10">
            <a:extLst>
              <a:ext uri="{FF2B5EF4-FFF2-40B4-BE49-F238E27FC236}">
                <a16:creationId xmlns:a16="http://schemas.microsoft.com/office/drawing/2014/main" id="{905BCE63-670E-A523-2816-7C66D493A7D4}"/>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9748" t="3958" r="50737" b="52777"/>
          <a:stretch>
            <a:fillRect/>
          </a:stretch>
        </p:blipFill>
        <p:spPr>
          <a:xfrm>
            <a:off x="120579" y="120580"/>
            <a:ext cx="4374595" cy="6737420"/>
          </a:xfrm>
        </p:spPr>
      </p:pic>
    </p:spTree>
    <p:extLst>
      <p:ext uri="{BB962C8B-B14F-4D97-AF65-F5344CB8AC3E}">
        <p14:creationId xmlns:p14="http://schemas.microsoft.com/office/powerpoint/2010/main" val="3666674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1396180" y="376977"/>
            <a:ext cx="9144000" cy="823452"/>
          </a:xfrm>
          <a:noFill/>
        </p:spPr>
        <p:txBody>
          <a:bodyPr/>
          <a:lstStyle/>
          <a:p>
            <a:r>
              <a:rPr lang="en-IN" sz="3600" dirty="0"/>
              <a:t>Data Processing</a:t>
            </a:r>
            <a:endParaRPr lang="en-US" sz="3600" dirty="0"/>
          </a:p>
        </p:txBody>
      </p:sp>
      <p:sp>
        <p:nvSpPr>
          <p:cNvPr id="30" name="Rectangle 24">
            <a:extLst>
              <a:ext uri="{FF2B5EF4-FFF2-40B4-BE49-F238E27FC236}">
                <a16:creationId xmlns:a16="http://schemas.microsoft.com/office/drawing/2014/main" id="{CBB46206-79B9-B498-892E-AE14B118D9B5}"/>
              </a:ext>
            </a:extLst>
          </p:cNvPr>
          <p:cNvSpPr>
            <a:spLocks noChangeArrowheads="1"/>
          </p:cNvSpPr>
          <p:nvPr/>
        </p:nvSpPr>
        <p:spPr bwMode="auto">
          <a:xfrm>
            <a:off x="727587" y="1366684"/>
            <a:ext cx="11189110"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000" dirty="0">
                <a:latin typeface="+mj-lt"/>
              </a:rPr>
              <a:t>Processed data for training of model</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Steps Taken: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 T</a:t>
            </a:r>
            <a:r>
              <a:rPr lang="en-US" altLang="en-US" sz="2000" b="1" dirty="0">
                <a:latin typeface="+mj-lt"/>
              </a:rPr>
              <a:t>a</a:t>
            </a:r>
            <a:r>
              <a:rPr kumimoji="0" lang="en-US" altLang="en-US" sz="2000" b="1" i="0" u="none" strike="noStrike" cap="none" normalizeH="0" baseline="0" dirty="0">
                <a:ln>
                  <a:noFill/>
                </a:ln>
                <a:solidFill>
                  <a:schemeClr val="tx1"/>
                </a:solidFill>
                <a:effectLst/>
                <a:latin typeface="+mj-lt"/>
              </a:rPr>
              <a:t>rget Variable Binarization:</a:t>
            </a:r>
            <a:r>
              <a:rPr kumimoji="0" lang="en-US" altLang="en-US" sz="2000" b="0" i="0" u="none" strike="noStrike" cap="none" normalizeH="0" baseline="0" dirty="0">
                <a:ln>
                  <a:noFill/>
                </a:ln>
                <a:solidFill>
                  <a:schemeClr val="tx1"/>
                </a:solidFill>
                <a:effectLst/>
                <a:latin typeface="+mj-lt"/>
              </a:rPr>
              <a:t> Converted num from multi-class (0–4) to binary:</a:t>
            </a:r>
          </a:p>
          <a:p>
            <a:pPr marL="914400" marR="0" lvl="2"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 0 → No disease</a:t>
            </a:r>
          </a:p>
          <a:p>
            <a:pPr marL="914400" marR="0" lvl="2"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 1 → Disease present (1–4)</a:t>
            </a:r>
          </a:p>
          <a:p>
            <a:pPr marL="914400" marR="0" lvl="2"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 Missing Value Handling:</a:t>
            </a:r>
            <a:r>
              <a:rPr lang="en-US" altLang="en-US" sz="2000" dirty="0">
                <a:latin typeface="+mj-lt"/>
              </a:rPr>
              <a:t> </a:t>
            </a:r>
            <a:r>
              <a:rPr kumimoji="0" lang="en-US" altLang="en-US" sz="2000" b="0" i="0" u="none" strike="noStrike" cap="none" normalizeH="0" baseline="0" dirty="0">
                <a:ln>
                  <a:noFill/>
                </a:ln>
                <a:solidFill>
                  <a:schemeClr val="tx1"/>
                </a:solidFill>
                <a:effectLst/>
                <a:latin typeface="+mj-lt"/>
              </a:rPr>
              <a:t>ca and </a:t>
            </a:r>
            <a:r>
              <a:rPr kumimoji="0" lang="en-US" altLang="en-US" sz="2000" b="0" i="0" u="none" strike="noStrike" cap="none" normalizeH="0" baseline="0" dirty="0" err="1">
                <a:ln>
                  <a:noFill/>
                </a:ln>
                <a:solidFill>
                  <a:schemeClr val="tx1"/>
                </a:solidFill>
                <a:effectLst/>
                <a:latin typeface="+mj-lt"/>
              </a:rPr>
              <a:t>thal</a:t>
            </a:r>
            <a:r>
              <a:rPr kumimoji="0" lang="en-US" altLang="en-US" sz="2000" b="0" i="0" u="none" strike="noStrike" cap="none" normalizeH="0" baseline="0" dirty="0">
                <a:ln>
                  <a:noFill/>
                </a:ln>
                <a:solidFill>
                  <a:schemeClr val="tx1"/>
                </a:solidFill>
                <a:effectLst/>
                <a:latin typeface="+mj-lt"/>
              </a:rPr>
              <a:t> had missing values. Imputed using:</a:t>
            </a:r>
          </a:p>
          <a:p>
            <a:pPr marL="914400" marR="0" lvl="2"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 Mean</a:t>
            </a:r>
            <a:r>
              <a:rPr kumimoji="0" lang="en-US" altLang="en-US" sz="2000" b="0" i="0" u="none" strike="noStrike" cap="none" normalizeH="0" baseline="0" dirty="0">
                <a:ln>
                  <a:noFill/>
                </a:ln>
                <a:solidFill>
                  <a:schemeClr val="tx1"/>
                </a:solidFill>
                <a:effectLst/>
                <a:latin typeface="+mj-lt"/>
              </a:rPr>
              <a:t> for numerical features</a:t>
            </a:r>
          </a:p>
          <a:p>
            <a:pPr marL="914400" marR="0" lvl="2"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 Most frequent</a:t>
            </a:r>
            <a:r>
              <a:rPr kumimoji="0" lang="en-US" altLang="en-US" sz="2000" b="0" i="0" u="none" strike="noStrike" cap="none" normalizeH="0" baseline="0" dirty="0">
                <a:ln>
                  <a:noFill/>
                </a:ln>
                <a:solidFill>
                  <a:schemeClr val="tx1"/>
                </a:solidFill>
                <a:effectLst/>
                <a:latin typeface="+mj-lt"/>
              </a:rPr>
              <a:t> for categorical features</a:t>
            </a:r>
          </a:p>
          <a:p>
            <a:pPr marL="914400" marR="0" lvl="2" indent="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 Feature Categorization:</a:t>
            </a:r>
            <a:r>
              <a:rPr lang="en-US" altLang="en-US" sz="2000" dirty="0">
                <a:latin typeface="+mj-lt"/>
              </a:rPr>
              <a:t> </a:t>
            </a:r>
            <a:r>
              <a:rPr kumimoji="0" lang="en-US" altLang="en-US" sz="2000" b="0" i="0" u="none" strike="noStrike" cap="none" normalizeH="0" baseline="0" dirty="0">
                <a:ln>
                  <a:noFill/>
                </a:ln>
                <a:solidFill>
                  <a:schemeClr val="tx1"/>
                </a:solidFill>
                <a:effectLst/>
                <a:latin typeface="+mj-lt"/>
              </a:rPr>
              <a:t>Separated columns into:</a:t>
            </a:r>
          </a:p>
          <a:p>
            <a:pPr marL="914400" marR="0" lvl="2"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 Numerical</a:t>
            </a:r>
            <a:r>
              <a:rPr kumimoji="0" lang="en-US" altLang="en-US" sz="2000" b="0" i="0" u="none" strike="noStrike" cap="none" normalizeH="0" baseline="0" dirty="0">
                <a:ln>
                  <a:noFill/>
                </a:ln>
                <a:solidFill>
                  <a:schemeClr val="tx1"/>
                </a:solidFill>
                <a:effectLst/>
                <a:latin typeface="+mj-lt"/>
              </a:rPr>
              <a:t> → e.g., age, </a:t>
            </a:r>
            <a:r>
              <a:rPr kumimoji="0" lang="en-US" altLang="en-US" sz="2000" b="0" i="0" u="none" strike="noStrike" cap="none" normalizeH="0" baseline="0" dirty="0" err="1">
                <a:ln>
                  <a:noFill/>
                </a:ln>
                <a:solidFill>
                  <a:schemeClr val="tx1"/>
                </a:solidFill>
                <a:effectLst/>
                <a:latin typeface="+mj-lt"/>
              </a:rPr>
              <a:t>chol</a:t>
            </a:r>
            <a:r>
              <a:rPr kumimoji="0" lang="en-US" altLang="en-US" sz="2000" b="0" i="0" u="none" strike="noStrike" cap="none" normalizeH="0" baseline="0" dirty="0">
                <a:ln>
                  <a:noFill/>
                </a:ln>
                <a:solidFill>
                  <a:schemeClr val="tx1"/>
                </a:solidFill>
                <a:effectLst/>
                <a:latin typeface="+mj-lt"/>
              </a:rPr>
              <a:t>, </a:t>
            </a:r>
            <a:r>
              <a:rPr kumimoji="0" lang="en-US" altLang="en-US" sz="2000" b="0" i="0" u="none" strike="noStrike" cap="none" normalizeH="0" baseline="0" dirty="0" err="1">
                <a:ln>
                  <a:noFill/>
                </a:ln>
                <a:solidFill>
                  <a:schemeClr val="tx1"/>
                </a:solidFill>
                <a:effectLst/>
                <a:latin typeface="+mj-lt"/>
              </a:rPr>
              <a:t>oldpeak</a:t>
            </a:r>
            <a:endParaRPr kumimoji="0" lang="en-US" altLang="en-US" sz="2000" b="0" i="0" u="none" strike="noStrike" cap="none" normalizeH="0" baseline="0" dirty="0">
              <a:ln>
                <a:noFill/>
              </a:ln>
              <a:solidFill>
                <a:schemeClr val="tx1"/>
              </a:solidFill>
              <a:effectLst/>
              <a:latin typeface="+mj-lt"/>
            </a:endParaRPr>
          </a:p>
          <a:p>
            <a:pPr marL="914400" marR="0" lvl="2"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 Categorical</a:t>
            </a:r>
            <a:r>
              <a:rPr kumimoji="0" lang="en-US" altLang="en-US" sz="2000" b="0" i="0" u="none" strike="noStrike" cap="none" normalizeH="0" baseline="0" dirty="0">
                <a:ln>
                  <a:noFill/>
                </a:ln>
                <a:solidFill>
                  <a:schemeClr val="tx1"/>
                </a:solidFill>
                <a:effectLst/>
                <a:latin typeface="+mj-lt"/>
              </a:rPr>
              <a:t> → e.g., sex, cp, </a:t>
            </a:r>
            <a:r>
              <a:rPr kumimoji="0" lang="en-US" altLang="en-US" sz="2000" b="0" i="0" u="none" strike="noStrike" cap="none" normalizeH="0" baseline="0" dirty="0" err="1">
                <a:ln>
                  <a:noFill/>
                </a:ln>
                <a:solidFill>
                  <a:schemeClr val="tx1"/>
                </a:solidFill>
                <a:effectLst/>
                <a:latin typeface="+mj-lt"/>
              </a:rPr>
              <a:t>thal</a:t>
            </a:r>
            <a:endParaRPr kumimoji="0" lang="en-US" altLang="en-US" sz="2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79936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838200" y="365760"/>
            <a:ext cx="10515600" cy="1325880"/>
          </a:xfrm>
          <a:noFill/>
        </p:spPr>
        <p:txBody>
          <a:bodyPr anchor="ctr"/>
          <a:lstStyle/>
          <a:p>
            <a:r>
              <a:rPr lang="en-IN" dirty="0"/>
              <a:t>Preprocessing Pipeline Setup</a:t>
            </a:r>
            <a:endParaRPr lang="en-US" dirty="0"/>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quarter" idx="13"/>
          </p:nvPr>
        </p:nvSpPr>
        <p:spPr>
          <a:xfrm>
            <a:off x="405579" y="1711796"/>
            <a:ext cx="4097595" cy="4137189"/>
          </a:xfrm>
          <a:noFill/>
        </p:spPr>
        <p:txBody>
          <a:bodyPr>
            <a:normAutofit/>
          </a:bodyPr>
          <a:lstStyle/>
          <a:p>
            <a:pPr algn="just"/>
            <a:r>
              <a:rPr lang="en-US" b="1" dirty="0">
                <a:latin typeface="+mj-lt"/>
              </a:rPr>
              <a:t>Why a Pipeline?</a:t>
            </a:r>
            <a:endParaRPr lang="en-US" dirty="0">
              <a:latin typeface="+mj-lt"/>
            </a:endParaRPr>
          </a:p>
          <a:p>
            <a:pPr algn="just"/>
            <a:r>
              <a:rPr lang="en-US" dirty="0">
                <a:latin typeface="+mj-lt"/>
              </a:rPr>
              <a:t>To automate and standardize preprocessing steps</a:t>
            </a:r>
          </a:p>
          <a:p>
            <a:pPr algn="just"/>
            <a:r>
              <a:rPr lang="en-US" dirty="0">
                <a:latin typeface="+mj-lt"/>
              </a:rPr>
              <a:t>Avoid data leakage and ensure consistent transformations for training and testing</a:t>
            </a:r>
          </a:p>
          <a:p>
            <a:endParaRPr lang="en-US" dirty="0"/>
          </a:p>
        </p:txBody>
      </p:sp>
      <p:sp>
        <p:nvSpPr>
          <p:cNvPr id="7" name="Rectangle 2">
            <a:extLst>
              <a:ext uri="{FF2B5EF4-FFF2-40B4-BE49-F238E27FC236}">
                <a16:creationId xmlns:a16="http://schemas.microsoft.com/office/drawing/2014/main" id="{C81DFEF0-312A-3A56-9F8A-05CD8FDB44E1}"/>
              </a:ext>
            </a:extLst>
          </p:cNvPr>
          <p:cNvSpPr>
            <a:spLocks noGrp="1" noChangeArrowheads="1"/>
          </p:cNvSpPr>
          <p:nvPr>
            <p:ph sz="quarter" idx="14"/>
          </p:nvPr>
        </p:nvSpPr>
        <p:spPr bwMode="auto">
          <a:xfrm>
            <a:off x="4503174" y="1682791"/>
            <a:ext cx="7570838"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j-lt"/>
              </a:rPr>
              <a:t>Pipeline Components: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mj-lt"/>
              </a:rPr>
              <a:t>Numerical Pipeline:</a:t>
            </a:r>
            <a:r>
              <a:rPr lang="en-US" altLang="en-US" dirty="0">
                <a:latin typeface="+mj-lt"/>
              </a:rPr>
              <a:t>   </a:t>
            </a:r>
            <a:r>
              <a:rPr kumimoji="0" lang="en-US" altLang="en-US" sz="1600" b="0" i="0" u="none" strike="noStrike" cap="none" normalizeH="0" baseline="0" dirty="0" err="1">
                <a:ln>
                  <a:noFill/>
                </a:ln>
                <a:solidFill>
                  <a:schemeClr val="tx1"/>
                </a:solidFill>
                <a:effectLst/>
                <a:latin typeface="+mj-lt"/>
              </a:rPr>
              <a:t>SimpleImputer</a:t>
            </a:r>
            <a:r>
              <a:rPr kumimoji="0" lang="en-US" altLang="en-US" sz="1600" b="0" i="0" u="none" strike="noStrike" cap="none" normalizeH="0" baseline="0" dirty="0">
                <a:ln>
                  <a:noFill/>
                </a:ln>
                <a:solidFill>
                  <a:schemeClr val="tx1"/>
                </a:solidFill>
                <a:effectLst/>
                <a:latin typeface="+mj-lt"/>
              </a:rPr>
              <a:t>(strategy='mean’),     </a:t>
            </a:r>
            <a:r>
              <a:rPr kumimoji="0" lang="en-US" altLang="en-US" sz="1600" b="0" i="0" u="none" strike="noStrike" cap="none" normalizeH="0" baseline="0" dirty="0" err="1">
                <a:ln>
                  <a:noFill/>
                </a:ln>
                <a:solidFill>
                  <a:schemeClr val="tx1"/>
                </a:solidFill>
                <a:effectLst/>
                <a:latin typeface="+mj-lt"/>
              </a:rPr>
              <a:t>StandardScaler</a:t>
            </a:r>
            <a:r>
              <a:rPr kumimoji="0" lang="en-US" altLang="en-US" sz="1600" b="0" i="0" u="none" strike="noStrike" cap="none" normalizeH="0" baseline="0" dirty="0">
                <a:ln>
                  <a:noFill/>
                </a:ln>
                <a:solidFill>
                  <a:schemeClr val="tx1"/>
                </a:solidFill>
                <a:effectLst/>
                <a:latin typeface="+mj-lt"/>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mj-lt"/>
              </a:rPr>
              <a:t>Categorical  Pipeline</a:t>
            </a:r>
            <a:r>
              <a:rPr lang="en-US" altLang="en-US" b="1" dirty="0">
                <a:latin typeface="+mj-lt"/>
              </a:rPr>
              <a:t>:</a:t>
            </a:r>
            <a:r>
              <a:rPr kumimoji="0" lang="en-US" altLang="en-US" sz="1800" b="1" i="0" u="none" strike="noStrike" cap="none" normalizeH="0" baseline="0" dirty="0">
                <a:ln>
                  <a:noFill/>
                </a:ln>
                <a:solidFill>
                  <a:schemeClr val="tx1"/>
                </a:solidFill>
                <a:effectLst/>
                <a:latin typeface="+mj-lt"/>
              </a:rPr>
              <a:t>   </a:t>
            </a:r>
            <a:r>
              <a:rPr kumimoji="0" lang="en-US" altLang="en-US" sz="1600" b="0" i="0" u="none" strike="noStrike" cap="none" normalizeH="0" baseline="0" dirty="0" err="1">
                <a:ln>
                  <a:noFill/>
                </a:ln>
                <a:solidFill>
                  <a:schemeClr val="tx1"/>
                </a:solidFill>
                <a:effectLst/>
                <a:latin typeface="+mj-lt"/>
              </a:rPr>
              <a:t>SimpleImputer</a:t>
            </a:r>
            <a:r>
              <a:rPr kumimoji="0" lang="en-US" altLang="en-US" sz="1600" b="0" i="0" u="none" strike="noStrike" cap="none" normalizeH="0" baseline="0" dirty="0">
                <a:ln>
                  <a:noFill/>
                </a:ln>
                <a:solidFill>
                  <a:schemeClr val="tx1"/>
                </a:solidFill>
                <a:effectLst/>
                <a:latin typeface="+mj-lt"/>
              </a:rPr>
              <a:t>(strategy='</a:t>
            </a:r>
            <a:r>
              <a:rPr kumimoji="0" lang="en-US" altLang="en-US" sz="1600" b="0" i="0" u="none" strike="noStrike" cap="none" normalizeH="0" baseline="0" dirty="0" err="1">
                <a:ln>
                  <a:noFill/>
                </a:ln>
                <a:solidFill>
                  <a:schemeClr val="tx1"/>
                </a:solidFill>
                <a:effectLst/>
                <a:latin typeface="+mj-lt"/>
              </a:rPr>
              <a:t>most_frequent</a:t>
            </a:r>
            <a:r>
              <a:rPr kumimoji="0" lang="en-US" altLang="en-US" sz="1600" b="0" i="0" u="none" strike="noStrike" cap="none" normalizeH="0" baseline="0" dirty="0">
                <a:ln>
                  <a:noFill/>
                </a:ln>
                <a:solidFill>
                  <a:schemeClr val="tx1"/>
                </a:solidFill>
                <a:effectLst/>
                <a:latin typeface="+mj-lt"/>
              </a:rPr>
              <a: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mj-lt"/>
              </a:rPr>
              <a:t>                                             </a:t>
            </a:r>
            <a:r>
              <a:rPr kumimoji="0" lang="en-US" altLang="en-US" sz="1600" b="0" i="0" u="none" strike="noStrike" cap="none" normalizeH="0" baseline="0" dirty="0" err="1">
                <a:ln>
                  <a:noFill/>
                </a:ln>
                <a:solidFill>
                  <a:schemeClr val="tx1"/>
                </a:solidFill>
                <a:effectLst/>
                <a:latin typeface="+mj-lt"/>
              </a:rPr>
              <a:t>OneHotEncoder</a:t>
            </a:r>
            <a:r>
              <a:rPr kumimoji="0" lang="en-US" altLang="en-US" sz="1600" b="0" i="0" u="none" strike="noStrike" cap="none" normalizeH="0" baseline="0" dirty="0">
                <a:ln>
                  <a:noFill/>
                </a:ln>
                <a:solidFill>
                  <a:schemeClr val="tx1"/>
                </a:solidFill>
                <a:effectLst/>
                <a:latin typeface="+mj-lt"/>
              </a:rPr>
              <a:t>(</a:t>
            </a:r>
            <a:r>
              <a:rPr kumimoji="0" lang="en-US" altLang="en-US" sz="1600" b="0" i="0" u="none" strike="noStrike" cap="none" normalizeH="0" baseline="0" dirty="0" err="1">
                <a:ln>
                  <a:noFill/>
                </a:ln>
                <a:solidFill>
                  <a:schemeClr val="tx1"/>
                </a:solidFill>
                <a:effectLst/>
                <a:latin typeface="+mj-lt"/>
              </a:rPr>
              <a:t>handle_unknown</a:t>
            </a:r>
            <a:r>
              <a:rPr kumimoji="0" lang="en-US" altLang="en-US" sz="1600" b="0" i="0" u="none" strike="noStrike" cap="none" normalizeH="0" baseline="0" dirty="0">
                <a:ln>
                  <a:noFill/>
                </a:ln>
                <a:solidFill>
                  <a:schemeClr val="tx1"/>
                </a:solidFill>
                <a:effectLst/>
                <a:latin typeface="+mj-lt"/>
              </a:rPr>
              <a:t>='ignore')</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err="1">
                <a:ln>
                  <a:noFill/>
                </a:ln>
                <a:solidFill>
                  <a:schemeClr val="tx1"/>
                </a:solidFill>
                <a:effectLst/>
                <a:latin typeface="+mj-lt"/>
              </a:rPr>
              <a:t>ColumnTransformer</a:t>
            </a:r>
            <a:r>
              <a:rPr kumimoji="0" lang="en-US" altLang="en-US" sz="1800" b="1" i="0" u="none" strike="noStrike" cap="none" normalizeH="0" baseline="0" dirty="0">
                <a:ln>
                  <a:noFill/>
                </a:ln>
                <a:solidFill>
                  <a:schemeClr val="tx1"/>
                </a:solidFill>
                <a:effectLst/>
                <a:latin typeface="+mj-lt"/>
              </a:rPr>
              <a:t>: </a:t>
            </a:r>
            <a:r>
              <a:rPr kumimoji="0" lang="en-US" altLang="en-US" sz="1800" b="0" i="0" u="none" strike="noStrike" cap="none" normalizeH="0" baseline="0" dirty="0">
                <a:ln>
                  <a:noFill/>
                </a:ln>
                <a:solidFill>
                  <a:schemeClr val="tx1"/>
                </a:solidFill>
                <a:effectLst/>
                <a:latin typeface="+mj-lt"/>
              </a:rPr>
              <a:t>Merged numerical and categorical pipelines . Applied 			transformations only to relevant columns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mj-lt"/>
              </a:rPr>
              <a:t>Result: </a:t>
            </a:r>
            <a:r>
              <a:rPr kumimoji="0" lang="en-US" altLang="en-US" b="0" i="0" u="none" strike="noStrike" cap="none" normalizeH="0" baseline="0" dirty="0">
                <a:ln>
                  <a:noFill/>
                </a:ln>
                <a:solidFill>
                  <a:schemeClr val="tx1"/>
                </a:solidFill>
                <a:effectLst/>
                <a:latin typeface="+mj-lt"/>
              </a:rPr>
              <a:t>Clean, scalable, and reusable preprocessing setup, Ready-to-use for 	model training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43159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38200" y="0"/>
            <a:ext cx="10515600" cy="1325880"/>
          </a:xfrm>
          <a:noFill/>
        </p:spPr>
        <p:txBody>
          <a:bodyPr anchor="ctr"/>
          <a:lstStyle/>
          <a:p>
            <a:r>
              <a:rPr lang="en-US" dirty="0"/>
              <a:t>Test-train split and model training</a:t>
            </a:r>
          </a:p>
        </p:txBody>
      </p:sp>
      <p:sp>
        <p:nvSpPr>
          <p:cNvPr id="4" name="Content Placeholder 3">
            <a:extLst>
              <a:ext uri="{FF2B5EF4-FFF2-40B4-BE49-F238E27FC236}">
                <a16:creationId xmlns:a16="http://schemas.microsoft.com/office/drawing/2014/main" id="{83302BFD-960F-CBB3-E984-CDC12813A10C}"/>
              </a:ext>
            </a:extLst>
          </p:cNvPr>
          <p:cNvSpPr>
            <a:spLocks noGrp="1"/>
          </p:cNvSpPr>
          <p:nvPr>
            <p:ph sz="quarter" idx="14"/>
          </p:nvPr>
        </p:nvSpPr>
        <p:spPr>
          <a:xfrm>
            <a:off x="5909181" y="1453871"/>
            <a:ext cx="5732204" cy="4395019"/>
          </a:xfrm>
          <a:noFill/>
        </p:spPr>
        <p:txBody>
          <a:bodyPr>
            <a:noAutofit/>
          </a:bodyPr>
          <a:lstStyle/>
          <a:p>
            <a:pPr algn="just"/>
            <a:r>
              <a:rPr lang="en-IN" dirty="0">
                <a:latin typeface="+mj-lt"/>
              </a:rPr>
              <a:t>Trained and evaluated </a:t>
            </a:r>
            <a:r>
              <a:rPr lang="en-IN" b="1" dirty="0">
                <a:latin typeface="+mj-lt"/>
              </a:rPr>
              <a:t>5 traditional ML models and 1 Neural network</a:t>
            </a:r>
            <a:r>
              <a:rPr lang="en-IN" dirty="0">
                <a:latin typeface="+mj-lt"/>
              </a:rPr>
              <a:t>:</a:t>
            </a:r>
          </a:p>
          <a:p>
            <a:pPr lvl="1" algn="just"/>
            <a:r>
              <a:rPr lang="en-IN" dirty="0">
                <a:latin typeface="+mj-lt"/>
              </a:rPr>
              <a:t>Logistic Regression</a:t>
            </a:r>
          </a:p>
          <a:p>
            <a:pPr lvl="1" algn="just"/>
            <a:r>
              <a:rPr lang="en-IN" dirty="0">
                <a:latin typeface="+mj-lt"/>
              </a:rPr>
              <a:t>K-Nearest </a:t>
            </a:r>
            <a:r>
              <a:rPr lang="en-IN" dirty="0" err="1">
                <a:latin typeface="+mj-lt"/>
              </a:rPr>
              <a:t>Neighbors</a:t>
            </a:r>
            <a:r>
              <a:rPr lang="en-IN" dirty="0">
                <a:latin typeface="+mj-lt"/>
              </a:rPr>
              <a:t> (KNN)</a:t>
            </a:r>
          </a:p>
          <a:p>
            <a:pPr lvl="1" algn="just"/>
            <a:r>
              <a:rPr lang="en-IN" dirty="0">
                <a:latin typeface="+mj-lt"/>
              </a:rPr>
              <a:t>Support Vector Machine (SVM)</a:t>
            </a:r>
          </a:p>
          <a:p>
            <a:pPr lvl="1" algn="just"/>
            <a:r>
              <a:rPr lang="en-IN" dirty="0" err="1">
                <a:latin typeface="+mj-lt"/>
              </a:rPr>
              <a:t>XGBoost</a:t>
            </a:r>
            <a:endParaRPr lang="en-IN" dirty="0">
              <a:latin typeface="+mj-lt"/>
            </a:endParaRPr>
          </a:p>
          <a:p>
            <a:pPr lvl="1" algn="just"/>
            <a:r>
              <a:rPr lang="en-IN" dirty="0" err="1">
                <a:latin typeface="+mj-lt"/>
              </a:rPr>
              <a:t>LightGBM</a:t>
            </a:r>
            <a:endParaRPr lang="en-IN" dirty="0">
              <a:latin typeface="+mj-lt"/>
            </a:endParaRPr>
          </a:p>
          <a:p>
            <a:pPr lvl="1" algn="just"/>
            <a:r>
              <a:rPr lang="en-IN" dirty="0">
                <a:latin typeface="+mj-lt"/>
              </a:rPr>
              <a:t>MLP</a:t>
            </a:r>
          </a:p>
        </p:txBody>
      </p:sp>
      <p:sp>
        <p:nvSpPr>
          <p:cNvPr id="5" name="Rectangle 4">
            <a:extLst>
              <a:ext uri="{FF2B5EF4-FFF2-40B4-BE49-F238E27FC236}">
                <a16:creationId xmlns:a16="http://schemas.microsoft.com/office/drawing/2014/main" id="{C80227B8-A24C-8C29-034A-D7700B887685}"/>
              </a:ext>
              <a:ext uri="{C183D7F6-B498-43B3-948B-1728B52AA6E4}">
                <adec:decorative xmlns:adec="http://schemas.microsoft.com/office/drawing/2017/decorative" val="1"/>
              </a:ext>
            </a:extLst>
          </p:cNvPr>
          <p:cNvSpPr/>
          <p:nvPr/>
        </p:nvSpPr>
        <p:spPr>
          <a:xfrm>
            <a:off x="0" y="6558116"/>
            <a:ext cx="12192000" cy="299884"/>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Rectangle 2">
            <a:extLst>
              <a:ext uri="{FF2B5EF4-FFF2-40B4-BE49-F238E27FC236}">
                <a16:creationId xmlns:a16="http://schemas.microsoft.com/office/drawing/2014/main" id="{53678768-3968-4A8E-19BD-FC72305C6BAB}"/>
              </a:ext>
            </a:extLst>
          </p:cNvPr>
          <p:cNvSpPr>
            <a:spLocks noGrp="1" noChangeArrowheads="1"/>
          </p:cNvSpPr>
          <p:nvPr>
            <p:ph sz="quarter" idx="13"/>
          </p:nvPr>
        </p:nvSpPr>
        <p:spPr bwMode="auto">
          <a:xfrm>
            <a:off x="334305" y="1119141"/>
            <a:ext cx="5073440" cy="4857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  Used </a:t>
            </a:r>
            <a:r>
              <a:rPr kumimoji="0" lang="en-US" altLang="en-US" b="0" i="0" u="none" strike="noStrike" cap="none" normalizeH="0" baseline="0" dirty="0" err="1">
                <a:ln>
                  <a:noFill/>
                </a:ln>
                <a:solidFill>
                  <a:schemeClr val="tx1"/>
                </a:solidFill>
                <a:effectLst/>
                <a:latin typeface="+mj-lt"/>
              </a:rPr>
              <a:t>train_test_split</a:t>
            </a:r>
            <a:r>
              <a:rPr kumimoji="0" lang="en-US" altLang="en-US" b="0" i="0" u="none" strike="noStrike" cap="none" normalizeH="0" baseline="0" dirty="0">
                <a:ln>
                  <a:noFill/>
                </a:ln>
                <a:solidFill>
                  <a:schemeClr val="tx1"/>
                </a:solidFill>
                <a:effectLst/>
                <a:latin typeface="+mj-lt"/>
              </a:rPr>
              <a:t> (80% train / 20% test)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  Applied </a:t>
            </a:r>
            <a:r>
              <a:rPr kumimoji="0" lang="en-US" altLang="en-US" b="1" i="0" u="none" strike="noStrike" cap="none" normalizeH="0" baseline="0" dirty="0">
                <a:ln>
                  <a:noFill/>
                </a:ln>
                <a:solidFill>
                  <a:schemeClr val="tx1"/>
                </a:solidFill>
                <a:effectLst/>
                <a:latin typeface="+mj-lt"/>
              </a:rPr>
              <a:t>stratification</a:t>
            </a:r>
            <a:r>
              <a:rPr kumimoji="0" lang="en-US" altLang="en-US" b="0" i="0" u="none" strike="noStrike" cap="none" normalizeH="0" baseline="0" dirty="0">
                <a:ln>
                  <a:noFill/>
                </a:ln>
                <a:solidFill>
                  <a:schemeClr val="tx1"/>
                </a:solidFill>
                <a:effectLst/>
                <a:latin typeface="+mj-lt"/>
              </a:rPr>
              <a:t> to maintain class balance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mj-l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  Ensured that preprocessing was fitted only on training data (to avoid data leakage)</a:t>
            </a:r>
          </a:p>
          <a:p>
            <a:pPr marL="0" indent="0" algn="just">
              <a:buNone/>
            </a:pPr>
            <a:r>
              <a:rPr lang="en-IN" dirty="0">
                <a:latin typeface="+mj-lt"/>
              </a:rPr>
              <a:t>Used </a:t>
            </a:r>
            <a:r>
              <a:rPr lang="en-IN" b="1" dirty="0" err="1">
                <a:latin typeface="+mj-lt"/>
              </a:rPr>
              <a:t>GridSearchCV</a:t>
            </a:r>
            <a:r>
              <a:rPr lang="en-IN" dirty="0">
                <a:latin typeface="+mj-lt"/>
              </a:rPr>
              <a:t> with 5-fold cross-validation to find best hyperparameters</a:t>
            </a:r>
          </a:p>
          <a:p>
            <a:pPr marL="0" indent="0" algn="just">
              <a:buNone/>
            </a:pPr>
            <a:r>
              <a:rPr lang="en-IN" dirty="0">
                <a:latin typeface="+mj-lt"/>
              </a:rPr>
              <a:t>Models evaluated on test data using:</a:t>
            </a:r>
          </a:p>
          <a:p>
            <a:pPr marL="457200" lvl="1" indent="0" algn="just">
              <a:buNone/>
            </a:pPr>
            <a:r>
              <a:rPr lang="en-IN" dirty="0">
                <a:latin typeface="+mj-lt"/>
              </a:rPr>
              <a:t>Accuracy, Precision, Recall, F1 Score, AUC-ROC</a:t>
            </a:r>
          </a:p>
          <a:p>
            <a:pPr marL="457200" lvl="1" indent="0" algn="just">
              <a:buNone/>
            </a:pPr>
            <a:r>
              <a:rPr lang="en-IN" dirty="0">
                <a:latin typeface="+mj-lt"/>
              </a:rPr>
              <a:t>Confusion Matrix &amp; Classification Report</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29609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623660"/>
          </a:xfrm>
          <a:noFill/>
        </p:spPr>
        <p:txBody>
          <a:bodyPr anchor="b"/>
          <a:lstStyle/>
          <a:p>
            <a:r>
              <a:rPr lang="en-US" dirty="0"/>
              <a:t>Model evaluation</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1" y="1322998"/>
            <a:ext cx="4894006" cy="4389119"/>
          </a:xfrm>
          <a:noFill/>
        </p:spPr>
        <p:txBody>
          <a:bodyPr vert="horz" lIns="91440" tIns="45720" rIns="91440" bIns="45720" rtlCol="0" anchor="t">
            <a:noAutofit/>
          </a:bodyPr>
          <a:lstStyle/>
          <a:p>
            <a:r>
              <a:rPr lang="en-US" b="1" dirty="0">
                <a:latin typeface="+mj-lt"/>
              </a:rPr>
              <a:t>Confusion Matrix:</a:t>
            </a:r>
            <a:endParaRPr lang="en-US" dirty="0">
              <a:latin typeface="+mj-lt"/>
            </a:endParaRPr>
          </a:p>
          <a:p>
            <a:r>
              <a:rPr lang="en-US" dirty="0">
                <a:latin typeface="+mj-lt"/>
              </a:rPr>
              <a:t>Shows how predictions compare to actual labels</a:t>
            </a:r>
          </a:p>
          <a:p>
            <a:r>
              <a:rPr lang="en-US" dirty="0">
                <a:latin typeface="+mj-lt"/>
              </a:rPr>
              <a:t>Helps identify:</a:t>
            </a:r>
          </a:p>
          <a:p>
            <a:pPr lvl="1"/>
            <a:r>
              <a:rPr lang="en-US" b="1" dirty="0">
                <a:latin typeface="+mj-lt"/>
              </a:rPr>
              <a:t>True Positives (TP)</a:t>
            </a:r>
            <a:r>
              <a:rPr lang="en-US" dirty="0">
                <a:latin typeface="+mj-lt"/>
              </a:rPr>
              <a:t>: Correctly predicted disease cases</a:t>
            </a:r>
          </a:p>
          <a:p>
            <a:pPr lvl="1"/>
            <a:r>
              <a:rPr lang="en-US" b="1" dirty="0">
                <a:latin typeface="+mj-lt"/>
              </a:rPr>
              <a:t>True Negatives (TN)</a:t>
            </a:r>
            <a:r>
              <a:rPr lang="en-US" dirty="0">
                <a:latin typeface="+mj-lt"/>
              </a:rPr>
              <a:t>: Correctly predicted non-disease cases</a:t>
            </a:r>
          </a:p>
          <a:p>
            <a:pPr lvl="1"/>
            <a:r>
              <a:rPr lang="en-US" b="1" dirty="0">
                <a:latin typeface="+mj-lt"/>
              </a:rPr>
              <a:t>False Positives (FP)</a:t>
            </a:r>
            <a:r>
              <a:rPr lang="en-US" dirty="0">
                <a:latin typeface="+mj-lt"/>
              </a:rPr>
              <a:t>: Healthy predicted as sick</a:t>
            </a:r>
          </a:p>
          <a:p>
            <a:pPr lvl="1"/>
            <a:r>
              <a:rPr lang="en-US" b="1" dirty="0">
                <a:latin typeface="+mj-lt"/>
              </a:rPr>
              <a:t>False Negatives (FN)</a:t>
            </a:r>
            <a:r>
              <a:rPr lang="en-US" dirty="0">
                <a:latin typeface="+mj-lt"/>
              </a:rPr>
              <a:t>: Sick predicted as healthy</a:t>
            </a:r>
          </a:p>
          <a:p>
            <a:r>
              <a:rPr lang="en-US" dirty="0">
                <a:latin typeface="+mj-lt"/>
              </a:rPr>
              <a:t>Plotted for each model to visualize classification performance</a:t>
            </a:r>
          </a:p>
        </p:txBody>
      </p:sp>
      <p:pic>
        <p:nvPicPr>
          <p:cNvPr id="14" name="Picture 13">
            <a:extLst>
              <a:ext uri="{FF2B5EF4-FFF2-40B4-BE49-F238E27FC236}">
                <a16:creationId xmlns:a16="http://schemas.microsoft.com/office/drawing/2014/main" id="{8146D14D-7CC6-679A-32AF-856869C8BB23}"/>
              </a:ext>
            </a:extLst>
          </p:cNvPr>
          <p:cNvPicPr>
            <a:picLocks noChangeAspect="1"/>
          </p:cNvPicPr>
          <p:nvPr/>
        </p:nvPicPr>
        <p:blipFill>
          <a:blip r:embed="rId3">
            <a:extLst>
              <a:ext uri="{28A0092B-C50C-407E-A947-70E740481C1C}">
                <a14:useLocalDpi xmlns:a14="http://schemas.microsoft.com/office/drawing/2010/main" val="0"/>
              </a:ext>
            </a:extLst>
          </a:blip>
          <a:srcRect l="5736" t="6338" r="1635" b="2205"/>
          <a:stretch>
            <a:fillRect/>
          </a:stretch>
        </p:blipFill>
        <p:spPr>
          <a:xfrm>
            <a:off x="6272980" y="1320607"/>
            <a:ext cx="5450817" cy="4713879"/>
          </a:xfrm>
          <a:prstGeom prst="rect">
            <a:avLst/>
          </a:prstGeom>
        </p:spPr>
      </p:pic>
    </p:spTree>
    <p:extLst>
      <p:ext uri="{BB962C8B-B14F-4D97-AF65-F5344CB8AC3E}">
        <p14:creationId xmlns:p14="http://schemas.microsoft.com/office/powerpoint/2010/main" val="1649597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0FD60B01-0219-C06E-D6D8-FB11CE91315E}"/>
              </a:ext>
            </a:extLst>
          </p:cNvPr>
          <p:cNvGraphicFramePr>
            <a:graphicFrameLocks noGrp="1"/>
          </p:cNvGraphicFramePr>
          <p:nvPr>
            <p:extLst>
              <p:ext uri="{D42A27DB-BD31-4B8C-83A1-F6EECF244321}">
                <p14:modId xmlns:p14="http://schemas.microsoft.com/office/powerpoint/2010/main" val="924110535"/>
              </p:ext>
            </p:extLst>
          </p:nvPr>
        </p:nvGraphicFramePr>
        <p:xfrm>
          <a:off x="838200" y="1007863"/>
          <a:ext cx="10515600" cy="4458871"/>
        </p:xfrm>
        <a:graphic>
          <a:graphicData uri="http://schemas.openxmlformats.org/drawingml/2006/table">
            <a:tbl>
              <a:tblPr/>
              <a:tblGrid>
                <a:gridCol w="5257800">
                  <a:extLst>
                    <a:ext uri="{9D8B030D-6E8A-4147-A177-3AD203B41FA5}">
                      <a16:colId xmlns:a16="http://schemas.microsoft.com/office/drawing/2014/main" val="2432380855"/>
                    </a:ext>
                  </a:extLst>
                </a:gridCol>
                <a:gridCol w="5257800">
                  <a:extLst>
                    <a:ext uri="{9D8B030D-6E8A-4147-A177-3AD203B41FA5}">
                      <a16:colId xmlns:a16="http://schemas.microsoft.com/office/drawing/2014/main" val="2987794487"/>
                    </a:ext>
                  </a:extLst>
                </a:gridCol>
              </a:tblGrid>
              <a:tr h="799232">
                <a:tc>
                  <a:txBody>
                    <a:bodyPr/>
                    <a:lstStyle/>
                    <a:p>
                      <a:pPr>
                        <a:buNone/>
                      </a:pPr>
                      <a:r>
                        <a:rPr lang="en-IN" sz="3200" dirty="0">
                          <a:latin typeface="+mj-lt"/>
                        </a:rPr>
                        <a:t>EVALUATION METRICS</a:t>
                      </a:r>
                    </a:p>
                  </a:txBody>
                  <a:tcPr anchor="ctr">
                    <a:lnL>
                      <a:noFill/>
                    </a:lnL>
                    <a:lnR>
                      <a:noFill/>
                    </a:lnR>
                    <a:lnT>
                      <a:noFill/>
                    </a:lnT>
                    <a:lnB>
                      <a:noFill/>
                    </a:lnB>
                    <a:noFill/>
                  </a:tcPr>
                </a:tc>
                <a:tc>
                  <a:txBody>
                    <a:bodyPr/>
                    <a:lstStyle/>
                    <a:p>
                      <a:pPr>
                        <a:buNone/>
                      </a:pPr>
                      <a:endParaRPr lang="en-IN" dirty="0">
                        <a:latin typeface="+mj-lt"/>
                      </a:endParaRPr>
                    </a:p>
                  </a:txBody>
                  <a:tcPr anchor="ctr">
                    <a:lnL>
                      <a:noFill/>
                    </a:lnL>
                    <a:lnR>
                      <a:noFill/>
                    </a:lnR>
                    <a:lnT>
                      <a:noFill/>
                    </a:lnT>
                    <a:lnB>
                      <a:noFill/>
                    </a:lnB>
                    <a:noFill/>
                  </a:tcPr>
                </a:tc>
                <a:extLst>
                  <a:ext uri="{0D108BD9-81ED-4DB2-BD59-A6C34878D82A}">
                    <a16:rowId xmlns:a16="http://schemas.microsoft.com/office/drawing/2014/main" val="729002695"/>
                  </a:ext>
                </a:extLst>
              </a:tr>
              <a:tr h="504778">
                <a:tc>
                  <a:txBody>
                    <a:bodyPr/>
                    <a:lstStyle/>
                    <a:p>
                      <a:pPr marL="285750" indent="-285750">
                        <a:buFont typeface="Arial" panose="020B0604020202020204" pitchFamily="34" charset="0"/>
                        <a:buChar char="•"/>
                      </a:pPr>
                      <a:r>
                        <a:rPr lang="en-IN" b="1">
                          <a:latin typeface="+mj-lt"/>
                        </a:rPr>
                        <a:t>Accuracy</a:t>
                      </a:r>
                      <a:endParaRPr lang="en-IN">
                        <a:latin typeface="+mj-lt"/>
                      </a:endParaRPr>
                    </a:p>
                  </a:txBody>
                  <a:tcPr anchor="ctr">
                    <a:lnL>
                      <a:noFill/>
                    </a:lnL>
                    <a:lnR>
                      <a:noFill/>
                    </a:lnR>
                    <a:lnT>
                      <a:noFill/>
                    </a:lnT>
                    <a:lnB>
                      <a:noFill/>
                    </a:lnB>
                    <a:noFill/>
                  </a:tcPr>
                </a:tc>
                <a:tc>
                  <a:txBody>
                    <a:bodyPr/>
                    <a:lstStyle/>
                    <a:p>
                      <a:pPr>
                        <a:buNone/>
                      </a:pPr>
                      <a:r>
                        <a:rPr lang="en-IN" dirty="0">
                          <a:latin typeface="+mj-lt"/>
                        </a:rPr>
                        <a:t>Overall prediction correctness</a:t>
                      </a:r>
                    </a:p>
                  </a:txBody>
                  <a:tcPr anchor="ctr">
                    <a:lnL>
                      <a:noFill/>
                    </a:lnL>
                    <a:lnR>
                      <a:noFill/>
                    </a:lnR>
                    <a:lnT>
                      <a:noFill/>
                    </a:lnT>
                    <a:lnB>
                      <a:noFill/>
                    </a:lnB>
                    <a:noFill/>
                  </a:tcPr>
                </a:tc>
                <a:extLst>
                  <a:ext uri="{0D108BD9-81ED-4DB2-BD59-A6C34878D82A}">
                    <a16:rowId xmlns:a16="http://schemas.microsoft.com/office/drawing/2014/main" val="2629484676"/>
                  </a:ext>
                </a:extLst>
              </a:tr>
              <a:tr h="883361">
                <a:tc>
                  <a:txBody>
                    <a:bodyPr/>
                    <a:lstStyle/>
                    <a:p>
                      <a:pPr marL="285750" indent="-285750">
                        <a:buFont typeface="Arial" panose="020B0604020202020204" pitchFamily="34" charset="0"/>
                        <a:buChar char="•"/>
                      </a:pPr>
                      <a:r>
                        <a:rPr lang="en-IN" b="1" dirty="0">
                          <a:latin typeface="+mj-lt"/>
                        </a:rPr>
                        <a:t>Precision</a:t>
                      </a:r>
                      <a:endParaRPr lang="en-IN" dirty="0">
                        <a:latin typeface="+mj-lt"/>
                      </a:endParaRPr>
                    </a:p>
                  </a:txBody>
                  <a:tcPr anchor="ctr">
                    <a:lnL>
                      <a:noFill/>
                    </a:lnL>
                    <a:lnR>
                      <a:noFill/>
                    </a:lnR>
                    <a:lnT>
                      <a:noFill/>
                    </a:lnT>
                    <a:lnB>
                      <a:noFill/>
                    </a:lnB>
                    <a:noFill/>
                  </a:tcPr>
                </a:tc>
                <a:tc>
                  <a:txBody>
                    <a:bodyPr/>
                    <a:lstStyle/>
                    <a:p>
                      <a:pPr>
                        <a:buNone/>
                      </a:pPr>
                      <a:r>
                        <a:rPr lang="en-US">
                          <a:latin typeface="+mj-lt"/>
                        </a:rPr>
                        <a:t>Proportion of predicted positives that are actually positive</a:t>
                      </a:r>
                    </a:p>
                  </a:txBody>
                  <a:tcPr anchor="ctr">
                    <a:lnL>
                      <a:noFill/>
                    </a:lnL>
                    <a:lnR>
                      <a:noFill/>
                    </a:lnR>
                    <a:lnT>
                      <a:noFill/>
                    </a:lnT>
                    <a:lnB>
                      <a:noFill/>
                    </a:lnB>
                    <a:noFill/>
                  </a:tcPr>
                </a:tc>
                <a:extLst>
                  <a:ext uri="{0D108BD9-81ED-4DB2-BD59-A6C34878D82A}">
                    <a16:rowId xmlns:a16="http://schemas.microsoft.com/office/drawing/2014/main" val="2264800793"/>
                  </a:ext>
                </a:extLst>
              </a:tr>
              <a:tr h="883361">
                <a:tc>
                  <a:txBody>
                    <a:bodyPr/>
                    <a:lstStyle/>
                    <a:p>
                      <a:pPr marL="285750" indent="-285750">
                        <a:buFont typeface="Arial" panose="020B0604020202020204" pitchFamily="34" charset="0"/>
                        <a:buChar char="•"/>
                      </a:pPr>
                      <a:r>
                        <a:rPr lang="en-IN" b="1" dirty="0">
                          <a:latin typeface="+mj-lt"/>
                        </a:rPr>
                        <a:t>Recall</a:t>
                      </a:r>
                      <a:endParaRPr lang="en-IN" dirty="0">
                        <a:latin typeface="+mj-lt"/>
                      </a:endParaRPr>
                    </a:p>
                  </a:txBody>
                  <a:tcPr anchor="ctr">
                    <a:lnL>
                      <a:noFill/>
                    </a:lnL>
                    <a:lnR>
                      <a:noFill/>
                    </a:lnR>
                    <a:lnT>
                      <a:noFill/>
                    </a:lnT>
                    <a:lnB>
                      <a:noFill/>
                    </a:lnB>
                    <a:noFill/>
                  </a:tcPr>
                </a:tc>
                <a:tc>
                  <a:txBody>
                    <a:bodyPr/>
                    <a:lstStyle/>
                    <a:p>
                      <a:pPr>
                        <a:buNone/>
                      </a:pPr>
                      <a:r>
                        <a:rPr lang="en-US">
                          <a:latin typeface="+mj-lt"/>
                        </a:rPr>
                        <a:t>Proportion of actual positives that are correctly identified</a:t>
                      </a:r>
                    </a:p>
                  </a:txBody>
                  <a:tcPr anchor="ctr">
                    <a:lnL>
                      <a:noFill/>
                    </a:lnL>
                    <a:lnR>
                      <a:noFill/>
                    </a:lnR>
                    <a:lnT>
                      <a:noFill/>
                    </a:lnT>
                    <a:lnB>
                      <a:noFill/>
                    </a:lnB>
                    <a:noFill/>
                  </a:tcPr>
                </a:tc>
                <a:extLst>
                  <a:ext uri="{0D108BD9-81ED-4DB2-BD59-A6C34878D82A}">
                    <a16:rowId xmlns:a16="http://schemas.microsoft.com/office/drawing/2014/main" val="3797508823"/>
                  </a:ext>
                </a:extLst>
              </a:tr>
              <a:tr h="504778">
                <a:tc>
                  <a:txBody>
                    <a:bodyPr/>
                    <a:lstStyle/>
                    <a:p>
                      <a:pPr marL="285750" indent="-285750">
                        <a:buFont typeface="Arial" panose="020B0604020202020204" pitchFamily="34" charset="0"/>
                        <a:buChar char="•"/>
                      </a:pPr>
                      <a:r>
                        <a:rPr lang="en-IN" b="1" dirty="0">
                          <a:latin typeface="+mj-lt"/>
                        </a:rPr>
                        <a:t>F1 Score</a:t>
                      </a:r>
                      <a:endParaRPr lang="en-IN" dirty="0">
                        <a:latin typeface="+mj-lt"/>
                      </a:endParaRPr>
                    </a:p>
                  </a:txBody>
                  <a:tcPr anchor="ctr">
                    <a:lnL>
                      <a:noFill/>
                    </a:lnL>
                    <a:lnR>
                      <a:noFill/>
                    </a:lnR>
                    <a:lnT>
                      <a:noFill/>
                    </a:lnT>
                    <a:lnB>
                      <a:noFill/>
                    </a:lnB>
                    <a:noFill/>
                  </a:tcPr>
                </a:tc>
                <a:tc>
                  <a:txBody>
                    <a:bodyPr/>
                    <a:lstStyle/>
                    <a:p>
                      <a:pPr>
                        <a:buNone/>
                      </a:pPr>
                      <a:r>
                        <a:rPr lang="en-US">
                          <a:latin typeface="+mj-lt"/>
                        </a:rPr>
                        <a:t>Harmonic mean of precision and recall</a:t>
                      </a:r>
                    </a:p>
                  </a:txBody>
                  <a:tcPr anchor="ctr">
                    <a:lnL>
                      <a:noFill/>
                    </a:lnL>
                    <a:lnR>
                      <a:noFill/>
                    </a:lnR>
                    <a:lnT>
                      <a:noFill/>
                    </a:lnT>
                    <a:lnB>
                      <a:noFill/>
                    </a:lnB>
                    <a:noFill/>
                  </a:tcPr>
                </a:tc>
                <a:extLst>
                  <a:ext uri="{0D108BD9-81ED-4DB2-BD59-A6C34878D82A}">
                    <a16:rowId xmlns:a16="http://schemas.microsoft.com/office/drawing/2014/main" val="4079541335"/>
                  </a:ext>
                </a:extLst>
              </a:tr>
              <a:tr h="883361">
                <a:tc>
                  <a:txBody>
                    <a:bodyPr/>
                    <a:lstStyle/>
                    <a:p>
                      <a:pPr marL="285750" indent="-285750">
                        <a:buFont typeface="Arial" panose="020B0604020202020204" pitchFamily="34" charset="0"/>
                        <a:buChar char="•"/>
                      </a:pPr>
                      <a:r>
                        <a:rPr lang="en-IN" b="1" dirty="0">
                          <a:latin typeface="+mj-lt"/>
                        </a:rPr>
                        <a:t>AUC-ROC</a:t>
                      </a:r>
                      <a:endParaRPr lang="en-IN" dirty="0">
                        <a:latin typeface="+mj-lt"/>
                      </a:endParaRPr>
                    </a:p>
                  </a:txBody>
                  <a:tcPr anchor="ctr">
                    <a:lnL>
                      <a:noFill/>
                    </a:lnL>
                    <a:lnR>
                      <a:noFill/>
                    </a:lnR>
                    <a:lnT>
                      <a:noFill/>
                    </a:lnT>
                    <a:lnB>
                      <a:noFill/>
                    </a:lnB>
                    <a:noFill/>
                  </a:tcPr>
                </a:tc>
                <a:tc>
                  <a:txBody>
                    <a:bodyPr/>
                    <a:lstStyle/>
                    <a:p>
                      <a:pPr>
                        <a:buNone/>
                      </a:pPr>
                      <a:r>
                        <a:rPr lang="en-US" dirty="0">
                          <a:latin typeface="+mj-lt"/>
                        </a:rPr>
                        <a:t>Measures </a:t>
                      </a:r>
                      <a:r>
                        <a:rPr lang="en-US" dirty="0" err="1">
                          <a:latin typeface="+mj-lt"/>
                        </a:rPr>
                        <a:t>odel’s</a:t>
                      </a:r>
                      <a:r>
                        <a:rPr lang="en-US" dirty="0">
                          <a:latin typeface="+mj-lt"/>
                        </a:rPr>
                        <a:t> ability to separate classes based on probability</a:t>
                      </a:r>
                    </a:p>
                  </a:txBody>
                  <a:tcPr anchor="ctr">
                    <a:lnL>
                      <a:noFill/>
                    </a:lnL>
                    <a:lnR>
                      <a:noFill/>
                    </a:lnR>
                    <a:lnT>
                      <a:noFill/>
                    </a:lnT>
                    <a:lnB>
                      <a:noFill/>
                    </a:lnB>
                    <a:noFill/>
                  </a:tcPr>
                </a:tc>
                <a:extLst>
                  <a:ext uri="{0D108BD9-81ED-4DB2-BD59-A6C34878D82A}">
                    <a16:rowId xmlns:a16="http://schemas.microsoft.com/office/drawing/2014/main" val="958000794"/>
                  </a:ext>
                </a:extLst>
              </a:tr>
            </a:tbl>
          </a:graphicData>
        </a:graphic>
      </p:graphicFrame>
    </p:spTree>
    <p:extLst>
      <p:ext uri="{BB962C8B-B14F-4D97-AF65-F5344CB8AC3E}">
        <p14:creationId xmlns:p14="http://schemas.microsoft.com/office/powerpoint/2010/main" val="4259977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838200" y="0"/>
            <a:ext cx="10515600" cy="1325563"/>
          </a:xfrm>
          <a:noFill/>
        </p:spPr>
        <p:txBody>
          <a:bodyPr anchor="ctr"/>
          <a:lstStyle/>
          <a:p>
            <a:r>
              <a:rPr lang="en-US" dirty="0"/>
              <a:t>Model COMPARISON &amp; TAKEAWAYS</a:t>
            </a:r>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quarter" idx="15"/>
          </p:nvPr>
        </p:nvSpPr>
        <p:spPr>
          <a:xfrm>
            <a:off x="248879" y="1215157"/>
            <a:ext cx="11694242" cy="4841514"/>
          </a:xfrm>
          <a:noFill/>
        </p:spPr>
        <p:txBody>
          <a:bodyPr vert="horz" lIns="91440" tIns="45720" rIns="91440" bIns="45720" rtlCol="0" anchor="t">
            <a:normAutofit fontScale="77500" lnSpcReduction="20000"/>
          </a:bodyPr>
          <a:lstStyle/>
          <a:p>
            <a:pPr algn="just"/>
            <a:r>
              <a:rPr lang="en-IN" sz="2900" dirty="0"/>
              <a:t>Top Performing Models:</a:t>
            </a:r>
            <a:endParaRPr lang="en-US" sz="2900" b="1" dirty="0">
              <a:latin typeface="+mj-lt"/>
            </a:endParaRPr>
          </a:p>
          <a:p>
            <a:pPr marL="285750" indent="-285750" algn="just">
              <a:buFont typeface="Arial" panose="020B0604020202020204" pitchFamily="34" charset="0"/>
              <a:buChar char="•"/>
            </a:pPr>
            <a:r>
              <a:rPr lang="en-US" sz="2300" b="1" dirty="0">
                <a:latin typeface="+mj-lt"/>
              </a:rPr>
              <a:t>SVM</a:t>
            </a:r>
            <a:r>
              <a:rPr lang="en-US" sz="2300" dirty="0">
                <a:latin typeface="+mj-lt"/>
              </a:rPr>
              <a:t> and </a:t>
            </a:r>
            <a:r>
              <a:rPr lang="en-US" sz="2300" b="1" dirty="0">
                <a:latin typeface="+mj-lt"/>
              </a:rPr>
              <a:t>KNN</a:t>
            </a:r>
            <a:r>
              <a:rPr lang="en-US" sz="2300" dirty="0">
                <a:latin typeface="+mj-lt"/>
              </a:rPr>
              <a:t> had the </a:t>
            </a:r>
            <a:r>
              <a:rPr lang="en-US" sz="2300" b="1" dirty="0">
                <a:latin typeface="+mj-lt"/>
              </a:rPr>
              <a:t>highest accuracy (88.5%)</a:t>
            </a:r>
            <a:r>
              <a:rPr lang="en-US" sz="2300" dirty="0">
                <a:latin typeface="+mj-lt"/>
              </a:rPr>
              <a:t> and strong recall, making them effective at identifying heart disease cases.</a:t>
            </a:r>
          </a:p>
          <a:p>
            <a:pPr marL="285750" indent="-285750" algn="just">
              <a:buFont typeface="Arial" panose="020B0604020202020204" pitchFamily="34" charset="0"/>
              <a:buChar char="•"/>
            </a:pPr>
            <a:r>
              <a:rPr lang="en-US" sz="2300" b="1" dirty="0">
                <a:latin typeface="+mj-lt"/>
              </a:rPr>
              <a:t>Logistic Regression</a:t>
            </a:r>
            <a:r>
              <a:rPr lang="en-US" sz="2300" dirty="0">
                <a:latin typeface="+mj-lt"/>
              </a:rPr>
              <a:t> and </a:t>
            </a:r>
            <a:r>
              <a:rPr lang="en-US" sz="2300" b="1" dirty="0">
                <a:latin typeface="+mj-lt"/>
              </a:rPr>
              <a:t>MLP (Neural Network)</a:t>
            </a:r>
            <a:r>
              <a:rPr lang="en-US" sz="2300" dirty="0">
                <a:latin typeface="+mj-lt"/>
              </a:rPr>
              <a:t> achieved </a:t>
            </a:r>
            <a:r>
              <a:rPr lang="en-US" sz="2300" b="1" dirty="0">
                <a:latin typeface="+mj-lt"/>
              </a:rPr>
              <a:t>high recall (92.8%)</a:t>
            </a:r>
            <a:r>
              <a:rPr lang="en-US" sz="2300" dirty="0">
                <a:latin typeface="+mj-lt"/>
              </a:rPr>
              <a:t> and </a:t>
            </a:r>
            <a:r>
              <a:rPr lang="en-US" sz="2300" b="1" dirty="0">
                <a:latin typeface="+mj-lt"/>
              </a:rPr>
              <a:t>best AUC-ROC (</a:t>
            </a:r>
            <a:r>
              <a:rPr lang="en-US" sz="2300" b="1" dirty="0" err="1">
                <a:latin typeface="+mj-lt"/>
              </a:rPr>
              <a:t>LogReg</a:t>
            </a:r>
            <a:r>
              <a:rPr lang="en-US" sz="2300" b="1" dirty="0">
                <a:latin typeface="+mj-lt"/>
              </a:rPr>
              <a:t>: 0.961)</a:t>
            </a:r>
            <a:r>
              <a:rPr lang="en-US" sz="2300" dirty="0">
                <a:latin typeface="+mj-lt"/>
              </a:rPr>
              <a:t>, showing excellent class separation.</a:t>
            </a:r>
          </a:p>
          <a:p>
            <a:pPr marL="285750" indent="-285750" algn="just">
              <a:buFont typeface="Arial" panose="020B0604020202020204" pitchFamily="34" charset="0"/>
              <a:buChar char="•"/>
            </a:pPr>
            <a:r>
              <a:rPr lang="en-US" sz="2300" b="1" dirty="0" err="1">
                <a:latin typeface="+mj-lt"/>
              </a:rPr>
              <a:t>LightGBM</a:t>
            </a:r>
            <a:r>
              <a:rPr lang="en-US" sz="2300" dirty="0">
                <a:latin typeface="+mj-lt"/>
              </a:rPr>
              <a:t> had the </a:t>
            </a:r>
            <a:r>
              <a:rPr lang="en-US" sz="2300" b="1" dirty="0">
                <a:latin typeface="+mj-lt"/>
              </a:rPr>
              <a:t>highest precision (85.2%)</a:t>
            </a:r>
            <a:r>
              <a:rPr lang="en-US" sz="2300" dirty="0">
                <a:latin typeface="+mj-lt"/>
              </a:rPr>
              <a:t>, making it the most cautious model in predicting positives</a:t>
            </a:r>
            <a:r>
              <a:rPr lang="en-US" sz="2300" dirty="0"/>
              <a:t>.</a:t>
            </a:r>
          </a:p>
          <a:p>
            <a:pPr algn="just"/>
            <a:r>
              <a:rPr lang="en-US" sz="2900" b="1" dirty="0">
                <a:latin typeface="+mj-lt"/>
              </a:rPr>
              <a:t>General Insights:</a:t>
            </a:r>
            <a:endParaRPr lang="en-US" sz="2900" dirty="0">
              <a:latin typeface="+mj-lt"/>
            </a:endParaRPr>
          </a:p>
          <a:p>
            <a:pPr marL="285750" indent="-285750" algn="just">
              <a:buFont typeface="Arial" panose="020B0604020202020204" pitchFamily="34" charset="0"/>
              <a:buChar char="•"/>
            </a:pPr>
            <a:r>
              <a:rPr lang="en-US" sz="2300" dirty="0">
                <a:latin typeface="+mj-lt"/>
              </a:rPr>
              <a:t>All models achieved </a:t>
            </a:r>
            <a:r>
              <a:rPr lang="en-US" sz="2300" b="1" dirty="0">
                <a:latin typeface="+mj-lt"/>
              </a:rPr>
              <a:t>F1 Scores above 83%</a:t>
            </a:r>
            <a:r>
              <a:rPr lang="en-US" sz="2300" dirty="0">
                <a:latin typeface="+mj-lt"/>
              </a:rPr>
              <a:t>, indicating balanced performance.</a:t>
            </a:r>
          </a:p>
          <a:p>
            <a:pPr marL="285750" indent="-285750" algn="just">
              <a:buFont typeface="Arial" panose="020B0604020202020204" pitchFamily="34" charset="0"/>
              <a:buChar char="•"/>
            </a:pPr>
            <a:r>
              <a:rPr lang="en-US" sz="2300" b="1" dirty="0">
                <a:latin typeface="+mj-lt"/>
              </a:rPr>
              <a:t>Neural Network (MLP)</a:t>
            </a:r>
            <a:r>
              <a:rPr lang="en-US" sz="2300" dirty="0">
                <a:latin typeface="+mj-lt"/>
              </a:rPr>
              <a:t> was competitive with traditional models, despite no manual feature engineering.</a:t>
            </a:r>
          </a:p>
          <a:p>
            <a:pPr marL="285750" indent="-285750" algn="just">
              <a:buFont typeface="Arial" panose="020B0604020202020204" pitchFamily="34" charset="0"/>
              <a:buChar char="•"/>
            </a:pPr>
            <a:r>
              <a:rPr lang="en-US" sz="2300" b="1" dirty="0">
                <a:latin typeface="+mj-lt"/>
              </a:rPr>
              <a:t>Tree-based models (</a:t>
            </a:r>
            <a:r>
              <a:rPr lang="en-US" sz="2300" b="1" dirty="0" err="1">
                <a:latin typeface="+mj-lt"/>
              </a:rPr>
              <a:t>XGBoost</a:t>
            </a:r>
            <a:r>
              <a:rPr lang="en-US" sz="2300" b="1" dirty="0">
                <a:latin typeface="+mj-lt"/>
              </a:rPr>
              <a:t>, </a:t>
            </a:r>
            <a:r>
              <a:rPr lang="en-US" sz="2300" b="1" dirty="0" err="1">
                <a:latin typeface="+mj-lt"/>
              </a:rPr>
              <a:t>LightGBM</a:t>
            </a:r>
            <a:r>
              <a:rPr lang="en-US" sz="2300" b="1" dirty="0">
                <a:latin typeface="+mj-lt"/>
              </a:rPr>
              <a:t>)</a:t>
            </a:r>
            <a:r>
              <a:rPr lang="en-US" sz="2300" dirty="0">
                <a:latin typeface="+mj-lt"/>
              </a:rPr>
              <a:t> were solid but slightly behind in accuracy compared to simpler models.</a:t>
            </a:r>
          </a:p>
          <a:p>
            <a:pPr marL="285750" indent="-285750" algn="just">
              <a:buFont typeface="Arial" panose="020B0604020202020204" pitchFamily="34" charset="0"/>
              <a:buChar char="•"/>
            </a:pPr>
            <a:endParaRPr lang="en-US" dirty="0"/>
          </a:p>
          <a:p>
            <a:pPr lvl="1"/>
            <a:endParaRPr lang="en-US" dirty="0"/>
          </a:p>
        </p:txBody>
      </p:sp>
    </p:spTree>
    <p:extLst>
      <p:ext uri="{BB962C8B-B14F-4D97-AF65-F5344CB8AC3E}">
        <p14:creationId xmlns:p14="http://schemas.microsoft.com/office/powerpoint/2010/main" val="643777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DA972-BD3A-3DCD-81F1-7AF161F58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0FE33-53A6-E75A-9BA0-8B7B1BFDD51E}"/>
              </a:ext>
            </a:extLst>
          </p:cNvPr>
          <p:cNvSpPr>
            <a:spLocks noGrp="1"/>
          </p:cNvSpPr>
          <p:nvPr>
            <p:ph type="title"/>
          </p:nvPr>
        </p:nvSpPr>
        <p:spPr>
          <a:xfrm>
            <a:off x="-86036" y="443783"/>
            <a:ext cx="7234087" cy="1325563"/>
          </a:xfrm>
          <a:noFill/>
        </p:spPr>
        <p:txBody>
          <a:bodyPr anchor="ctr"/>
          <a:lstStyle/>
          <a:p>
            <a:r>
              <a:rPr lang="en-US" dirty="0"/>
              <a:t>Final visualization and conclusion</a:t>
            </a:r>
          </a:p>
        </p:txBody>
      </p:sp>
      <p:sp>
        <p:nvSpPr>
          <p:cNvPr id="11" name="Rectangle 6">
            <a:extLst>
              <a:ext uri="{FF2B5EF4-FFF2-40B4-BE49-F238E27FC236}">
                <a16:creationId xmlns:a16="http://schemas.microsoft.com/office/drawing/2014/main" id="{19D2A661-43BE-B6F1-41BC-A18C0A5F2B20}"/>
              </a:ext>
            </a:extLst>
          </p:cNvPr>
          <p:cNvSpPr>
            <a:spLocks noChangeArrowheads="1"/>
          </p:cNvSpPr>
          <p:nvPr/>
        </p:nvSpPr>
        <p:spPr bwMode="auto">
          <a:xfrm>
            <a:off x="521109" y="2087629"/>
            <a:ext cx="650895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mj-lt"/>
              </a:rPr>
              <a:t>Simpler models (e.g., Logistic Regression, SVM) can perform surprisingly well with proper preprocessing and tuning.</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mj-l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mj-lt"/>
              </a:rPr>
              <a:t>Deep learning is promising but not always necessary for structured/tabular data.</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mj-l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latin typeface="+mj-lt"/>
              </a:rPr>
              <a:t>Final visualization was done by using bar chart</a:t>
            </a:r>
            <a:endParaRPr kumimoji="0" lang="en-US" altLang="en-US" sz="1800" b="0" i="0" u="none" strike="noStrike" cap="none" normalizeH="0" baseline="0" dirty="0">
              <a:ln>
                <a:noFill/>
              </a:ln>
              <a:solidFill>
                <a:schemeClr val="tx1"/>
              </a:solidFill>
              <a:effectLst/>
              <a:latin typeface="+mj-lt"/>
            </a:endParaRPr>
          </a:p>
        </p:txBody>
      </p:sp>
      <p:pic>
        <p:nvPicPr>
          <p:cNvPr id="14" name="Picture 13">
            <a:extLst>
              <a:ext uri="{FF2B5EF4-FFF2-40B4-BE49-F238E27FC236}">
                <a16:creationId xmlns:a16="http://schemas.microsoft.com/office/drawing/2014/main" id="{AA41F824-F7A4-FE66-4973-C62B664E3E2E}"/>
              </a:ext>
            </a:extLst>
          </p:cNvPr>
          <p:cNvPicPr>
            <a:picLocks noChangeAspect="1"/>
          </p:cNvPicPr>
          <p:nvPr/>
        </p:nvPicPr>
        <p:blipFill>
          <a:blip r:embed="rId3">
            <a:extLst>
              <a:ext uri="{28A0092B-C50C-407E-A947-70E740481C1C}">
                <a14:useLocalDpi xmlns:a14="http://schemas.microsoft.com/office/drawing/2010/main" val="0"/>
              </a:ext>
            </a:extLst>
          </a:blip>
          <a:srcRect l="68085" t="6252" r="967" b="8171"/>
          <a:stretch>
            <a:fillRect/>
          </a:stretch>
        </p:blipFill>
        <p:spPr>
          <a:xfrm>
            <a:off x="7413523" y="1"/>
            <a:ext cx="4821464" cy="6858000"/>
          </a:xfrm>
          <a:prstGeom prst="rect">
            <a:avLst/>
          </a:prstGeom>
        </p:spPr>
      </p:pic>
    </p:spTree>
    <p:extLst>
      <p:ext uri="{BB962C8B-B14F-4D97-AF65-F5344CB8AC3E}">
        <p14:creationId xmlns:p14="http://schemas.microsoft.com/office/powerpoint/2010/main" val="4233691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1470591" y="2153264"/>
            <a:ext cx="9467127" cy="1768190"/>
          </a:xfrm>
        </p:spPr>
        <p:txBody>
          <a:bodyPr/>
          <a:lstStyle/>
          <a:p>
            <a:r>
              <a:rPr lang="en-US" sz="8000" dirty="0"/>
              <a:t>THANK YOU</a:t>
            </a:r>
          </a:p>
        </p:txBody>
      </p:sp>
    </p:spTree>
    <p:extLst>
      <p:ext uri="{BB962C8B-B14F-4D97-AF65-F5344CB8AC3E}">
        <p14:creationId xmlns:p14="http://schemas.microsoft.com/office/powerpoint/2010/main" val="2184472291"/>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in32_SL_V16" id="{C08B0D31-9878-4B86-9AA2-489D9D63805D}" vid="{DECC9CCA-8386-4D88-B03D-E024FA4FDF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2.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Custom</Template>
  <TotalTime>158</TotalTime>
  <Words>975</Words>
  <Application>Microsoft Office PowerPoint</Application>
  <PresentationFormat>Widescreen</PresentationFormat>
  <Paragraphs>141</Paragraphs>
  <Slides>13</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Calibri Light</vt:lpstr>
      <vt:lpstr>Gabriola</vt:lpstr>
      <vt:lpstr>Wingdings</vt:lpstr>
      <vt:lpstr>Custom</vt:lpstr>
      <vt:lpstr>Heart Disease prediction</vt:lpstr>
      <vt:lpstr>Table of Contents</vt:lpstr>
      <vt:lpstr>Introduction</vt:lpstr>
      <vt:lpstr>Dataset overview</vt:lpstr>
      <vt:lpstr>Data Exploration &amp; Visualization</vt:lpstr>
      <vt:lpstr>Data Processing</vt:lpstr>
      <vt:lpstr>Preprocessing Pipeline Setup</vt:lpstr>
      <vt:lpstr>Test-train split and model training</vt:lpstr>
      <vt:lpstr>Model evaluation</vt:lpstr>
      <vt:lpstr>PowerPoint Presentation</vt:lpstr>
      <vt:lpstr>Model COMPARISON &amp; TAKEAWAYS</vt:lpstr>
      <vt:lpstr>Final visualization and 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dc:creator>Lenovo</dc:creator>
  <cp:lastModifiedBy>Jitendra kushwah</cp:lastModifiedBy>
  <cp:revision>5</cp:revision>
  <dcterms:created xsi:type="dcterms:W3CDTF">2024-02-14T18:56:44Z</dcterms:created>
  <dcterms:modified xsi:type="dcterms:W3CDTF">2025-07-09T09:07:47Z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